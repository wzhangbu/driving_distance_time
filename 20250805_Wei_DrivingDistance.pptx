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13" r:id="rId2"/>
    <p:sldId id="319" r:id="rId3"/>
    <p:sldId id="373" r:id="rId4"/>
    <p:sldId id="348" r:id="rId5"/>
    <p:sldId id="375" r:id="rId6"/>
    <p:sldId id="380" r:id="rId7"/>
    <p:sldId id="379" r:id="rId8"/>
    <p:sldId id="377" r:id="rId9"/>
    <p:sldId id="378" r:id="rId10"/>
    <p:sldId id="381" r:id="rId11"/>
    <p:sldId id="361" r:id="rId12"/>
    <p:sldId id="362" r:id="rId13"/>
    <p:sldId id="271" r:id="rId14"/>
    <p:sldId id="353" r:id="rId15"/>
    <p:sldId id="354" r:id="rId16"/>
    <p:sldId id="3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18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80FB57-9370-4E34-9B5D-726A59E1C0E2}" v="620" dt="2025-07-16T17:56:13.9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93243" autoAdjust="0"/>
  </p:normalViewPr>
  <p:slideViewPr>
    <p:cSldViewPr snapToGrid="0">
      <p:cViewPr varScale="1">
        <p:scale>
          <a:sx n="77" d="100"/>
          <a:sy n="77" d="100"/>
        </p:scale>
        <p:origin x="91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C59AB4-59E6-4704-B9DA-A1A57E699CC5}" type="doc">
      <dgm:prSet loTypeId="urn:microsoft.com/office/officeart/2005/8/layout/process1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002252-5833-434C-9EC1-A4D8F1ECB530}">
      <dgm:prSet phldrT="[Text]" custT="1"/>
      <dgm:spPr/>
      <dgm:t>
        <a:bodyPr/>
        <a:lstStyle/>
        <a:p>
          <a:r>
            <a:rPr lang="en-US" sz="2400" b="1" dirty="0">
              <a:solidFill>
                <a:schemeClr val="tx1"/>
              </a:solidFill>
            </a:rPr>
            <a:t>How can we speed up the previous codes?</a:t>
          </a:r>
        </a:p>
      </dgm:t>
    </dgm:pt>
    <dgm:pt modelId="{346E9973-6B31-4F2B-BCE6-E5E6C7621F6C}" type="parTrans" cxnId="{495EB9FB-8346-43AE-B186-567A5C1E3BD9}">
      <dgm:prSet/>
      <dgm:spPr/>
      <dgm:t>
        <a:bodyPr/>
        <a:lstStyle/>
        <a:p>
          <a:endParaRPr lang="en-US"/>
        </a:p>
      </dgm:t>
    </dgm:pt>
    <dgm:pt modelId="{701C8415-A8CD-496D-8E03-2EFCAF278E52}" type="sibTrans" cxnId="{495EB9FB-8346-43AE-B186-567A5C1E3BD9}">
      <dgm:prSet/>
      <dgm:spPr/>
      <dgm:t>
        <a:bodyPr/>
        <a:lstStyle/>
        <a:p>
          <a:endParaRPr lang="en-US"/>
        </a:p>
      </dgm:t>
    </dgm:pt>
    <dgm:pt modelId="{D914CF07-7BBA-4D51-8550-2E9B6D1AE7B1}">
      <dgm:prSet phldrT="[Text]" custT="1"/>
      <dgm:spPr/>
      <dgm:t>
        <a:bodyPr/>
        <a:lstStyle/>
        <a:p>
          <a:r>
            <a:rPr lang="en-US" sz="2400" b="1" dirty="0">
              <a:solidFill>
                <a:schemeClr val="tx1"/>
              </a:solidFill>
            </a:rPr>
            <a:t>How to handle 18 MM data within a week?</a:t>
          </a:r>
        </a:p>
      </dgm:t>
    </dgm:pt>
    <dgm:pt modelId="{C3C078F9-3B07-4B40-9432-3CC0EFFA6E3C}" type="parTrans" cxnId="{A0DED410-464A-43CC-8001-98FBB506DB83}">
      <dgm:prSet/>
      <dgm:spPr/>
      <dgm:t>
        <a:bodyPr/>
        <a:lstStyle/>
        <a:p>
          <a:endParaRPr lang="en-US"/>
        </a:p>
      </dgm:t>
    </dgm:pt>
    <dgm:pt modelId="{DC522E44-2E9B-4E7F-9531-ADBFD0DC5E76}" type="sibTrans" cxnId="{A0DED410-464A-43CC-8001-98FBB506DB83}">
      <dgm:prSet/>
      <dgm:spPr/>
      <dgm:t>
        <a:bodyPr/>
        <a:lstStyle/>
        <a:p>
          <a:endParaRPr lang="en-US"/>
        </a:p>
      </dgm:t>
    </dgm:pt>
    <dgm:pt modelId="{462F9747-6536-4A41-B505-4E49E7D67459}">
      <dgm:prSet phldrT="[Text]" custT="1"/>
      <dgm:spPr/>
      <dgm:t>
        <a:bodyPr/>
        <a:lstStyle/>
        <a:p>
          <a:r>
            <a:rPr lang="en-US" sz="2400" b="1" dirty="0">
              <a:solidFill>
                <a:schemeClr val="tx1"/>
              </a:solidFill>
            </a:rPr>
            <a:t>How robust is the algorithm?</a:t>
          </a:r>
        </a:p>
      </dgm:t>
    </dgm:pt>
    <dgm:pt modelId="{230D9E86-3E01-40C2-83B6-EDC5AD842104}" type="parTrans" cxnId="{BD8E7FCD-66BF-4A25-B42B-BF1C586EA8E5}">
      <dgm:prSet/>
      <dgm:spPr/>
      <dgm:t>
        <a:bodyPr/>
        <a:lstStyle/>
        <a:p>
          <a:endParaRPr lang="en-US"/>
        </a:p>
      </dgm:t>
    </dgm:pt>
    <dgm:pt modelId="{EDB432E5-D6BD-4891-A7B8-5985D65F6358}" type="sibTrans" cxnId="{BD8E7FCD-66BF-4A25-B42B-BF1C586EA8E5}">
      <dgm:prSet/>
      <dgm:spPr/>
      <dgm:t>
        <a:bodyPr/>
        <a:lstStyle/>
        <a:p>
          <a:endParaRPr lang="en-US"/>
        </a:p>
      </dgm:t>
    </dgm:pt>
    <dgm:pt modelId="{1D2FDE3D-5A03-44B2-91BB-45578394BC10}">
      <dgm:prSet/>
      <dgm:spPr/>
      <dgm:t>
        <a:bodyPr/>
        <a:lstStyle/>
        <a:p>
          <a:r>
            <a:rPr lang="en-US" sz="2000" b="0" dirty="0"/>
            <a:t>Parallel </a:t>
          </a:r>
          <a:r>
            <a:rPr lang="en-US" dirty="0"/>
            <a:t>computation</a:t>
          </a:r>
          <a:r>
            <a:rPr lang="en-US" sz="2000" b="0" dirty="0"/>
            <a:t>?</a:t>
          </a:r>
        </a:p>
      </dgm:t>
    </dgm:pt>
    <dgm:pt modelId="{3204E715-844B-4387-AF40-76DBED58F08F}" type="parTrans" cxnId="{F5E6EB00-9FE7-403B-A3E0-E24A675C01D8}">
      <dgm:prSet/>
      <dgm:spPr/>
      <dgm:t>
        <a:bodyPr/>
        <a:lstStyle/>
        <a:p>
          <a:endParaRPr lang="en-US"/>
        </a:p>
      </dgm:t>
    </dgm:pt>
    <dgm:pt modelId="{2B992665-2A3F-4B5C-A1F4-397C3B77F617}" type="sibTrans" cxnId="{F5E6EB00-9FE7-403B-A3E0-E24A675C01D8}">
      <dgm:prSet/>
      <dgm:spPr/>
      <dgm:t>
        <a:bodyPr/>
        <a:lstStyle/>
        <a:p>
          <a:endParaRPr lang="en-US"/>
        </a:p>
      </dgm:t>
    </dgm:pt>
    <dgm:pt modelId="{50748E0E-83F1-4BF4-8CEE-D65722CB9BFA}">
      <dgm:prSet phldrT="[Text]" custT="1"/>
      <dgm:spPr/>
      <dgm:t>
        <a:bodyPr/>
        <a:lstStyle/>
        <a:p>
          <a:r>
            <a:rPr lang="en-US" sz="2000" b="0" dirty="0"/>
            <a:t>Multi-processors?</a:t>
          </a:r>
        </a:p>
      </dgm:t>
    </dgm:pt>
    <dgm:pt modelId="{03963BD0-9269-4EEF-AAD2-74F83824C84C}" type="sibTrans" cxnId="{35C59DF5-CC31-47D9-8B6A-FB012FE241D9}">
      <dgm:prSet/>
      <dgm:spPr/>
      <dgm:t>
        <a:bodyPr/>
        <a:lstStyle/>
        <a:p>
          <a:endParaRPr lang="en-US"/>
        </a:p>
      </dgm:t>
    </dgm:pt>
    <dgm:pt modelId="{C9CD115E-099D-4BD7-9063-D45C7F56B450}" type="parTrans" cxnId="{35C59DF5-CC31-47D9-8B6A-FB012FE241D9}">
      <dgm:prSet/>
      <dgm:spPr/>
      <dgm:t>
        <a:bodyPr/>
        <a:lstStyle/>
        <a:p>
          <a:endParaRPr lang="en-US"/>
        </a:p>
      </dgm:t>
    </dgm:pt>
    <dgm:pt modelId="{B157BC3E-B0EC-42D2-88E4-ADF5BD36468B}">
      <dgm:prSet custT="1"/>
      <dgm:spPr/>
      <dgm:t>
        <a:bodyPr/>
        <a:lstStyle/>
        <a:p>
          <a:r>
            <a:rPr lang="en-US" sz="2000" b="0" dirty="0"/>
            <a:t>Give the same answer?</a:t>
          </a:r>
        </a:p>
      </dgm:t>
    </dgm:pt>
    <dgm:pt modelId="{00C1E66A-E956-4CEB-BB78-C9CDA3DE8100}" type="parTrans" cxnId="{5047AB99-5343-40E6-924C-408CA05534F6}">
      <dgm:prSet/>
      <dgm:spPr/>
      <dgm:t>
        <a:bodyPr/>
        <a:lstStyle/>
        <a:p>
          <a:endParaRPr lang="en-US"/>
        </a:p>
      </dgm:t>
    </dgm:pt>
    <dgm:pt modelId="{9E8F2C68-CDF9-4002-9A86-A9F687606C16}" type="sibTrans" cxnId="{5047AB99-5343-40E6-924C-408CA05534F6}">
      <dgm:prSet/>
      <dgm:spPr/>
      <dgm:t>
        <a:bodyPr/>
        <a:lstStyle/>
        <a:p>
          <a:endParaRPr lang="en-US"/>
        </a:p>
      </dgm:t>
    </dgm:pt>
    <dgm:pt modelId="{885CEAFC-EACD-4FBC-A302-190CC133F770}">
      <dgm:prSet phldrT="[Text]" custT="1"/>
      <dgm:spPr/>
      <dgm:t>
        <a:bodyPr/>
        <a:lstStyle/>
        <a:p>
          <a:r>
            <a:rPr lang="en-US" sz="2000" b="0" dirty="0"/>
            <a:t>…</a:t>
          </a:r>
        </a:p>
      </dgm:t>
    </dgm:pt>
    <dgm:pt modelId="{7815702A-FFD1-4651-86EE-122645678184}" type="parTrans" cxnId="{EB0C9363-2843-4535-85EC-9C1107569AAE}">
      <dgm:prSet/>
      <dgm:spPr/>
      <dgm:t>
        <a:bodyPr/>
        <a:lstStyle/>
        <a:p>
          <a:endParaRPr lang="en-US"/>
        </a:p>
      </dgm:t>
    </dgm:pt>
    <dgm:pt modelId="{A728FC48-9744-4B0D-9C4E-AF39C3371E8E}" type="sibTrans" cxnId="{EB0C9363-2843-4535-85EC-9C1107569AAE}">
      <dgm:prSet/>
      <dgm:spPr/>
      <dgm:t>
        <a:bodyPr/>
        <a:lstStyle/>
        <a:p>
          <a:endParaRPr lang="en-US"/>
        </a:p>
      </dgm:t>
    </dgm:pt>
    <dgm:pt modelId="{F8A6D5C9-D1B4-483A-92DB-DC18478F7429}">
      <dgm:prSet custT="1"/>
      <dgm:spPr/>
      <dgm:t>
        <a:bodyPr/>
        <a:lstStyle/>
        <a:p>
          <a:r>
            <a:rPr lang="en-US" sz="2000" b="0" dirty="0"/>
            <a:t>….</a:t>
          </a:r>
        </a:p>
      </dgm:t>
    </dgm:pt>
    <dgm:pt modelId="{0F7FC3E1-6A88-462F-AED8-AAA8D6DF339E}" type="parTrans" cxnId="{A7B4C9DE-4795-49EB-B588-3A1ECDCD525D}">
      <dgm:prSet/>
      <dgm:spPr/>
      <dgm:t>
        <a:bodyPr/>
        <a:lstStyle/>
        <a:p>
          <a:endParaRPr lang="en-US"/>
        </a:p>
      </dgm:t>
    </dgm:pt>
    <dgm:pt modelId="{920393D4-107D-478E-B529-DECC35437543}" type="sibTrans" cxnId="{A7B4C9DE-4795-49EB-B588-3A1ECDCD525D}">
      <dgm:prSet/>
      <dgm:spPr/>
      <dgm:t>
        <a:bodyPr/>
        <a:lstStyle/>
        <a:p>
          <a:endParaRPr lang="en-US"/>
        </a:p>
      </dgm:t>
    </dgm:pt>
    <dgm:pt modelId="{EC95B69D-248C-42CB-A9B0-353477D85E29}">
      <dgm:prSet phldrT="[Text]" custT="1"/>
      <dgm:spPr/>
      <dgm:t>
        <a:bodyPr/>
        <a:lstStyle/>
        <a:p>
          <a:r>
            <a:rPr lang="en-US" sz="2000" dirty="0" err="1"/>
            <a:t>Asyncio</a:t>
          </a:r>
          <a:r>
            <a:rPr lang="en-US" sz="2000" b="0" dirty="0"/>
            <a:t>? </a:t>
          </a:r>
        </a:p>
      </dgm:t>
    </dgm:pt>
    <dgm:pt modelId="{ABE6A048-9374-46A0-9EF7-2F5239E12C74}" type="parTrans" cxnId="{1881BA33-57F6-45F0-ACAE-8EEBC774FF96}">
      <dgm:prSet/>
      <dgm:spPr/>
      <dgm:t>
        <a:bodyPr/>
        <a:lstStyle/>
        <a:p>
          <a:endParaRPr lang="en-US"/>
        </a:p>
      </dgm:t>
    </dgm:pt>
    <dgm:pt modelId="{0D2A7DAB-52DD-4DFC-AFDB-E8668C71DE3C}" type="sibTrans" cxnId="{1881BA33-57F6-45F0-ACAE-8EEBC774FF96}">
      <dgm:prSet/>
      <dgm:spPr/>
      <dgm:t>
        <a:bodyPr/>
        <a:lstStyle/>
        <a:p>
          <a:endParaRPr lang="en-US"/>
        </a:p>
      </dgm:t>
    </dgm:pt>
    <dgm:pt modelId="{7462CEBA-0044-47A2-905A-1782C1580244}">
      <dgm:prSet custT="1"/>
      <dgm:spPr/>
      <dgm:t>
        <a:bodyPr/>
        <a:lstStyle/>
        <a:p>
          <a:r>
            <a:rPr lang="en-US" sz="2000" b="0" dirty="0"/>
            <a:t>Pipeline?</a:t>
          </a:r>
        </a:p>
      </dgm:t>
    </dgm:pt>
    <dgm:pt modelId="{81669731-7B79-4884-9A58-E5081703F231}" type="parTrans" cxnId="{7C88223B-5B41-4019-84D5-15B7DB1D4601}">
      <dgm:prSet/>
      <dgm:spPr/>
      <dgm:t>
        <a:bodyPr/>
        <a:lstStyle/>
        <a:p>
          <a:endParaRPr lang="en-US"/>
        </a:p>
      </dgm:t>
    </dgm:pt>
    <dgm:pt modelId="{289DBD42-A12A-4A47-A1A7-424F31721E54}" type="sibTrans" cxnId="{7C88223B-5B41-4019-84D5-15B7DB1D4601}">
      <dgm:prSet/>
      <dgm:spPr/>
      <dgm:t>
        <a:bodyPr/>
        <a:lstStyle/>
        <a:p>
          <a:endParaRPr lang="en-US"/>
        </a:p>
      </dgm:t>
    </dgm:pt>
    <dgm:pt modelId="{939CBC4D-636D-4DFE-9A22-D69214C6FC60}">
      <dgm:prSet phldrT="[Text]" custT="1"/>
      <dgm:spPr/>
      <dgm:t>
        <a:bodyPr/>
        <a:lstStyle/>
        <a:p>
          <a:r>
            <a:rPr lang="en-US" sz="2000" b="0" dirty="0"/>
            <a:t>Table API?</a:t>
          </a:r>
        </a:p>
      </dgm:t>
    </dgm:pt>
    <dgm:pt modelId="{79099D9B-7FB0-4CAA-9CEF-F52A43D83984}" type="parTrans" cxnId="{09441289-0606-4470-85E0-C1ABA444E79D}">
      <dgm:prSet/>
      <dgm:spPr/>
      <dgm:t>
        <a:bodyPr/>
        <a:lstStyle/>
        <a:p>
          <a:endParaRPr lang="en-US"/>
        </a:p>
      </dgm:t>
    </dgm:pt>
    <dgm:pt modelId="{94513043-1B0F-4154-9F4E-F87BBBFCAC88}" type="sibTrans" cxnId="{09441289-0606-4470-85E0-C1ABA444E79D}">
      <dgm:prSet/>
      <dgm:spPr/>
      <dgm:t>
        <a:bodyPr/>
        <a:lstStyle/>
        <a:p>
          <a:endParaRPr lang="en-US"/>
        </a:p>
      </dgm:t>
    </dgm:pt>
    <dgm:pt modelId="{A6DAFF26-BDCE-4F57-BFBC-FB293D1E9CBE}">
      <dgm:prSet phldrT="[Text]" custT="1"/>
      <dgm:spPr/>
      <dgm:t>
        <a:bodyPr/>
        <a:lstStyle/>
        <a:p>
          <a:r>
            <a:rPr lang="en-US" sz="2000" b="0" dirty="0"/>
            <a:t>Multi-threads?</a:t>
          </a:r>
        </a:p>
      </dgm:t>
    </dgm:pt>
    <dgm:pt modelId="{5FC03CAC-E798-4921-AC2E-1BAEE37D2C81}" type="parTrans" cxnId="{DFE97E30-0627-4574-A055-59B40C8108CD}">
      <dgm:prSet/>
      <dgm:spPr/>
      <dgm:t>
        <a:bodyPr/>
        <a:lstStyle/>
        <a:p>
          <a:endParaRPr lang="en-US"/>
        </a:p>
      </dgm:t>
    </dgm:pt>
    <dgm:pt modelId="{A17C389A-63C5-480C-9ADD-1ED9498DF98D}" type="sibTrans" cxnId="{DFE97E30-0627-4574-A055-59B40C8108CD}">
      <dgm:prSet/>
      <dgm:spPr/>
      <dgm:t>
        <a:bodyPr/>
        <a:lstStyle/>
        <a:p>
          <a:endParaRPr lang="en-US"/>
        </a:p>
      </dgm:t>
    </dgm:pt>
    <dgm:pt modelId="{75BBFAE9-8BBA-413E-86AA-497C58916B73}">
      <dgm:prSet/>
      <dgm:spPr/>
      <dgm:t>
        <a:bodyPr/>
        <a:lstStyle/>
        <a:p>
          <a:r>
            <a:rPr lang="en-US" sz="2000" b="0" dirty="0"/>
            <a:t>More workspaces?</a:t>
          </a:r>
        </a:p>
      </dgm:t>
    </dgm:pt>
    <dgm:pt modelId="{B27915C9-8983-498B-B8FF-737904F10284}" type="parTrans" cxnId="{5E1E7999-352C-4A3D-A2D5-C0175FBA0245}">
      <dgm:prSet/>
      <dgm:spPr/>
      <dgm:t>
        <a:bodyPr/>
        <a:lstStyle/>
        <a:p>
          <a:endParaRPr lang="en-US"/>
        </a:p>
      </dgm:t>
    </dgm:pt>
    <dgm:pt modelId="{49D1E706-4DE3-4590-8EBF-0E51BFEAFEA9}" type="sibTrans" cxnId="{5E1E7999-352C-4A3D-A2D5-C0175FBA0245}">
      <dgm:prSet/>
      <dgm:spPr/>
      <dgm:t>
        <a:bodyPr/>
        <a:lstStyle/>
        <a:p>
          <a:endParaRPr lang="en-US"/>
        </a:p>
      </dgm:t>
    </dgm:pt>
    <dgm:pt modelId="{74B81B19-0394-43D2-A138-93FE24977B80}">
      <dgm:prSet custT="1"/>
      <dgm:spPr/>
      <dgm:t>
        <a:bodyPr/>
        <a:lstStyle/>
        <a:p>
          <a:r>
            <a:rPr lang="en-US" sz="2000" b="0" dirty="0"/>
            <a:t>Handle new data?</a:t>
          </a:r>
        </a:p>
      </dgm:t>
    </dgm:pt>
    <dgm:pt modelId="{8A141E6E-8575-48AD-B753-9B904775AF8D}" type="parTrans" cxnId="{53F61ECB-87C6-4F29-8B81-733B73D26C13}">
      <dgm:prSet/>
      <dgm:spPr/>
      <dgm:t>
        <a:bodyPr/>
        <a:lstStyle/>
        <a:p>
          <a:endParaRPr lang="en-US"/>
        </a:p>
      </dgm:t>
    </dgm:pt>
    <dgm:pt modelId="{01B92DE9-F927-4F6F-9B69-0341209B0CED}" type="sibTrans" cxnId="{53F61ECB-87C6-4F29-8B81-733B73D26C13}">
      <dgm:prSet/>
      <dgm:spPr/>
      <dgm:t>
        <a:bodyPr/>
        <a:lstStyle/>
        <a:p>
          <a:endParaRPr lang="en-US"/>
        </a:p>
      </dgm:t>
    </dgm:pt>
    <dgm:pt modelId="{B5AAB33B-50DB-4D07-BEAA-93C6F9F80877}" type="pres">
      <dgm:prSet presAssocID="{3BC59AB4-59E6-4704-B9DA-A1A57E699CC5}" presName="Name0" presStyleCnt="0">
        <dgm:presLayoutVars>
          <dgm:dir/>
          <dgm:resizeHandles val="exact"/>
        </dgm:presLayoutVars>
      </dgm:prSet>
      <dgm:spPr/>
    </dgm:pt>
    <dgm:pt modelId="{FE542E3E-4B14-4D26-A818-AD00AB4990F1}" type="pres">
      <dgm:prSet presAssocID="{0F002252-5833-434C-9EC1-A4D8F1ECB530}" presName="node" presStyleLbl="node1" presStyleIdx="0" presStyleCnt="3">
        <dgm:presLayoutVars>
          <dgm:bulletEnabled val="1"/>
        </dgm:presLayoutVars>
      </dgm:prSet>
      <dgm:spPr/>
    </dgm:pt>
    <dgm:pt modelId="{CE0C022A-E1F0-4CED-82EC-42CA6E76A507}" type="pres">
      <dgm:prSet presAssocID="{701C8415-A8CD-496D-8E03-2EFCAF278E52}" presName="sibTrans" presStyleLbl="sibTrans2D1" presStyleIdx="0" presStyleCnt="2"/>
      <dgm:spPr/>
    </dgm:pt>
    <dgm:pt modelId="{87F1EAAB-C337-482F-82E5-7C0FCC6B9ED2}" type="pres">
      <dgm:prSet presAssocID="{701C8415-A8CD-496D-8E03-2EFCAF278E52}" presName="connectorText" presStyleLbl="sibTrans2D1" presStyleIdx="0" presStyleCnt="2"/>
      <dgm:spPr/>
    </dgm:pt>
    <dgm:pt modelId="{9E4389EE-D08B-4F45-A594-AD1045E25599}" type="pres">
      <dgm:prSet presAssocID="{D914CF07-7BBA-4D51-8550-2E9B6D1AE7B1}" presName="node" presStyleLbl="node1" presStyleIdx="1" presStyleCnt="3">
        <dgm:presLayoutVars>
          <dgm:bulletEnabled val="1"/>
        </dgm:presLayoutVars>
      </dgm:prSet>
      <dgm:spPr/>
    </dgm:pt>
    <dgm:pt modelId="{4CF868E1-0A4C-4870-8FB2-52CCBDA2012B}" type="pres">
      <dgm:prSet presAssocID="{DC522E44-2E9B-4E7F-9531-ADBFD0DC5E76}" presName="sibTrans" presStyleLbl="sibTrans2D1" presStyleIdx="1" presStyleCnt="2"/>
      <dgm:spPr/>
    </dgm:pt>
    <dgm:pt modelId="{C1902080-E7EA-470B-8598-3395ECCD7EC3}" type="pres">
      <dgm:prSet presAssocID="{DC522E44-2E9B-4E7F-9531-ADBFD0DC5E76}" presName="connectorText" presStyleLbl="sibTrans2D1" presStyleIdx="1" presStyleCnt="2"/>
      <dgm:spPr/>
    </dgm:pt>
    <dgm:pt modelId="{6CA6527A-FF06-4A9F-B27F-B2FF6576080F}" type="pres">
      <dgm:prSet presAssocID="{462F9747-6536-4A41-B505-4E49E7D67459}" presName="node" presStyleLbl="node1" presStyleIdx="2" presStyleCnt="3">
        <dgm:presLayoutVars>
          <dgm:bulletEnabled val="1"/>
        </dgm:presLayoutVars>
      </dgm:prSet>
      <dgm:spPr/>
    </dgm:pt>
  </dgm:ptLst>
  <dgm:cxnLst>
    <dgm:cxn modelId="{F5E6EB00-9FE7-403B-A3E0-E24A675C01D8}" srcId="{D914CF07-7BBA-4D51-8550-2E9B6D1AE7B1}" destId="{1D2FDE3D-5A03-44B2-91BB-45578394BC10}" srcOrd="0" destOrd="0" parTransId="{3204E715-844B-4387-AF40-76DBED58F08F}" sibTransId="{2B992665-2A3F-4B5C-A1F4-397C3B77F617}"/>
    <dgm:cxn modelId="{A0DED410-464A-43CC-8001-98FBB506DB83}" srcId="{3BC59AB4-59E6-4704-B9DA-A1A57E699CC5}" destId="{D914CF07-7BBA-4D51-8550-2E9B6D1AE7B1}" srcOrd="1" destOrd="0" parTransId="{C3C078F9-3B07-4B40-9432-3CC0EFFA6E3C}" sibTransId="{DC522E44-2E9B-4E7F-9531-ADBFD0DC5E76}"/>
    <dgm:cxn modelId="{CD7ADA11-E36C-4B44-9132-BD496AE36F62}" type="presOf" srcId="{701C8415-A8CD-496D-8E03-2EFCAF278E52}" destId="{87F1EAAB-C337-482F-82E5-7C0FCC6B9ED2}" srcOrd="1" destOrd="0" presId="urn:microsoft.com/office/officeart/2005/8/layout/process1"/>
    <dgm:cxn modelId="{E4AB0328-4F9F-40D8-8678-82F0DA1F0370}" type="presOf" srcId="{D914CF07-7BBA-4D51-8550-2E9B6D1AE7B1}" destId="{9E4389EE-D08B-4F45-A594-AD1045E25599}" srcOrd="0" destOrd="0" presId="urn:microsoft.com/office/officeart/2005/8/layout/process1"/>
    <dgm:cxn modelId="{396B4430-95AC-40E0-94B3-789A44DF8A0C}" type="presOf" srcId="{A6DAFF26-BDCE-4F57-BFBC-FB293D1E9CBE}" destId="{FE542E3E-4B14-4D26-A818-AD00AB4990F1}" srcOrd="0" destOrd="2" presId="urn:microsoft.com/office/officeart/2005/8/layout/process1"/>
    <dgm:cxn modelId="{DFE97E30-0627-4574-A055-59B40C8108CD}" srcId="{0F002252-5833-434C-9EC1-A4D8F1ECB530}" destId="{A6DAFF26-BDCE-4F57-BFBC-FB293D1E9CBE}" srcOrd="1" destOrd="0" parTransId="{5FC03CAC-E798-4921-AC2E-1BAEE37D2C81}" sibTransId="{A17C389A-63C5-480C-9ADD-1ED9498DF98D}"/>
    <dgm:cxn modelId="{1881BA33-57F6-45F0-ACAE-8EEBC774FF96}" srcId="{0F002252-5833-434C-9EC1-A4D8F1ECB530}" destId="{EC95B69D-248C-42CB-A9B0-353477D85E29}" srcOrd="3" destOrd="0" parTransId="{ABE6A048-9374-46A0-9EF7-2F5239E12C74}" sibTransId="{0D2A7DAB-52DD-4DFC-AFDB-E8668C71DE3C}"/>
    <dgm:cxn modelId="{070E1436-1C03-4F41-896E-48966DBCBFCD}" type="presOf" srcId="{0F002252-5833-434C-9EC1-A4D8F1ECB530}" destId="{FE542E3E-4B14-4D26-A818-AD00AB4990F1}" srcOrd="0" destOrd="0" presId="urn:microsoft.com/office/officeart/2005/8/layout/process1"/>
    <dgm:cxn modelId="{7C88223B-5B41-4019-84D5-15B7DB1D4601}" srcId="{D914CF07-7BBA-4D51-8550-2E9B6D1AE7B1}" destId="{7462CEBA-0044-47A2-905A-1782C1580244}" srcOrd="2" destOrd="0" parTransId="{81669731-7B79-4884-9A58-E5081703F231}" sibTransId="{289DBD42-A12A-4A47-A1A7-424F31721E54}"/>
    <dgm:cxn modelId="{BA1F2360-4E35-4B6D-9595-A71CE3D5CE87}" type="presOf" srcId="{885CEAFC-EACD-4FBC-A302-190CC133F770}" destId="{FE542E3E-4B14-4D26-A818-AD00AB4990F1}" srcOrd="0" destOrd="5" presId="urn:microsoft.com/office/officeart/2005/8/layout/process1"/>
    <dgm:cxn modelId="{C33CCC60-1124-4850-8164-1DDE76BAB6D5}" type="presOf" srcId="{7462CEBA-0044-47A2-905A-1782C1580244}" destId="{9E4389EE-D08B-4F45-A594-AD1045E25599}" srcOrd="0" destOrd="3" presId="urn:microsoft.com/office/officeart/2005/8/layout/process1"/>
    <dgm:cxn modelId="{EB0C9363-2843-4535-85EC-9C1107569AAE}" srcId="{0F002252-5833-434C-9EC1-A4D8F1ECB530}" destId="{885CEAFC-EACD-4FBC-A302-190CC133F770}" srcOrd="4" destOrd="0" parTransId="{7815702A-FFD1-4651-86EE-122645678184}" sibTransId="{A728FC48-9744-4B0D-9C4E-AF39C3371E8E}"/>
    <dgm:cxn modelId="{EF2CD155-C40A-4C27-81A9-C7558CC8D3FB}" type="presOf" srcId="{50748E0E-83F1-4BF4-8CEE-D65722CB9BFA}" destId="{FE542E3E-4B14-4D26-A818-AD00AB4990F1}" srcOrd="0" destOrd="3" presId="urn:microsoft.com/office/officeart/2005/8/layout/process1"/>
    <dgm:cxn modelId="{F292FF75-FDA8-423F-8E0E-F2A037EB2BBB}" type="presOf" srcId="{75BBFAE9-8BBA-413E-86AA-497C58916B73}" destId="{9E4389EE-D08B-4F45-A594-AD1045E25599}" srcOrd="0" destOrd="2" presId="urn:microsoft.com/office/officeart/2005/8/layout/process1"/>
    <dgm:cxn modelId="{5AF4AF83-1EF2-4DE2-8D24-1FA18BE38072}" type="presOf" srcId="{939CBC4D-636D-4DFE-9A22-D69214C6FC60}" destId="{FE542E3E-4B14-4D26-A818-AD00AB4990F1}" srcOrd="0" destOrd="1" presId="urn:microsoft.com/office/officeart/2005/8/layout/process1"/>
    <dgm:cxn modelId="{A1D5D783-762D-40BB-A47E-7324058A6824}" type="presOf" srcId="{701C8415-A8CD-496D-8E03-2EFCAF278E52}" destId="{CE0C022A-E1F0-4CED-82EC-42CA6E76A507}" srcOrd="0" destOrd="0" presId="urn:microsoft.com/office/officeart/2005/8/layout/process1"/>
    <dgm:cxn modelId="{09441289-0606-4470-85E0-C1ABA444E79D}" srcId="{0F002252-5833-434C-9EC1-A4D8F1ECB530}" destId="{939CBC4D-636D-4DFE-9A22-D69214C6FC60}" srcOrd="0" destOrd="0" parTransId="{79099D9B-7FB0-4CAA-9CEF-F52A43D83984}" sibTransId="{94513043-1B0F-4154-9F4E-F87BBBFCAC88}"/>
    <dgm:cxn modelId="{5E1E7999-352C-4A3D-A2D5-C0175FBA0245}" srcId="{D914CF07-7BBA-4D51-8550-2E9B6D1AE7B1}" destId="{75BBFAE9-8BBA-413E-86AA-497C58916B73}" srcOrd="1" destOrd="0" parTransId="{B27915C9-8983-498B-B8FF-737904F10284}" sibTransId="{49D1E706-4DE3-4590-8EBF-0E51BFEAFEA9}"/>
    <dgm:cxn modelId="{5047AB99-5343-40E6-924C-408CA05534F6}" srcId="{462F9747-6536-4A41-B505-4E49E7D67459}" destId="{B157BC3E-B0EC-42D2-88E4-ADF5BD36468B}" srcOrd="0" destOrd="0" parTransId="{00C1E66A-E956-4CEB-BB78-C9CDA3DE8100}" sibTransId="{9E8F2C68-CDF9-4002-9A86-A9F687606C16}"/>
    <dgm:cxn modelId="{65A6599E-1962-46A6-BB4B-8B28BB3CC3A5}" type="presOf" srcId="{F8A6D5C9-D1B4-483A-92DB-DC18478F7429}" destId="{6CA6527A-FF06-4A9F-B27F-B2FF6576080F}" srcOrd="0" destOrd="3" presId="urn:microsoft.com/office/officeart/2005/8/layout/process1"/>
    <dgm:cxn modelId="{285474BC-D645-4C2D-9517-05470B6E7A80}" type="presOf" srcId="{EC95B69D-248C-42CB-A9B0-353477D85E29}" destId="{FE542E3E-4B14-4D26-A818-AD00AB4990F1}" srcOrd="0" destOrd="4" presId="urn:microsoft.com/office/officeart/2005/8/layout/process1"/>
    <dgm:cxn modelId="{3F416BC5-984F-4B1E-9299-439E79DBBD03}" type="presOf" srcId="{1D2FDE3D-5A03-44B2-91BB-45578394BC10}" destId="{9E4389EE-D08B-4F45-A594-AD1045E25599}" srcOrd="0" destOrd="1" presId="urn:microsoft.com/office/officeart/2005/8/layout/process1"/>
    <dgm:cxn modelId="{827474C6-1331-4C1C-8B6B-DFA7F4914179}" type="presOf" srcId="{DC522E44-2E9B-4E7F-9531-ADBFD0DC5E76}" destId="{4CF868E1-0A4C-4870-8FB2-52CCBDA2012B}" srcOrd="0" destOrd="0" presId="urn:microsoft.com/office/officeart/2005/8/layout/process1"/>
    <dgm:cxn modelId="{155902C8-00CE-4565-9366-8D4FDE7FE979}" type="presOf" srcId="{74B81B19-0394-43D2-A138-93FE24977B80}" destId="{6CA6527A-FF06-4A9F-B27F-B2FF6576080F}" srcOrd="0" destOrd="2" presId="urn:microsoft.com/office/officeart/2005/8/layout/process1"/>
    <dgm:cxn modelId="{53F61ECB-87C6-4F29-8B81-733B73D26C13}" srcId="{462F9747-6536-4A41-B505-4E49E7D67459}" destId="{74B81B19-0394-43D2-A138-93FE24977B80}" srcOrd="1" destOrd="0" parTransId="{8A141E6E-8575-48AD-B753-9B904775AF8D}" sibTransId="{01B92DE9-F927-4F6F-9B69-0341209B0CED}"/>
    <dgm:cxn modelId="{BD8E7FCD-66BF-4A25-B42B-BF1C586EA8E5}" srcId="{3BC59AB4-59E6-4704-B9DA-A1A57E699CC5}" destId="{462F9747-6536-4A41-B505-4E49E7D67459}" srcOrd="2" destOrd="0" parTransId="{230D9E86-3E01-40C2-83B6-EDC5AD842104}" sibTransId="{EDB432E5-D6BD-4891-A7B8-5985D65F6358}"/>
    <dgm:cxn modelId="{308BD7CD-7B58-4A8F-B1AE-55C97AC0F68C}" type="presOf" srcId="{B157BC3E-B0EC-42D2-88E4-ADF5BD36468B}" destId="{6CA6527A-FF06-4A9F-B27F-B2FF6576080F}" srcOrd="0" destOrd="1" presId="urn:microsoft.com/office/officeart/2005/8/layout/process1"/>
    <dgm:cxn modelId="{2E1C6BD0-929E-49F6-AA9A-9704DE0807F3}" type="presOf" srcId="{462F9747-6536-4A41-B505-4E49E7D67459}" destId="{6CA6527A-FF06-4A9F-B27F-B2FF6576080F}" srcOrd="0" destOrd="0" presId="urn:microsoft.com/office/officeart/2005/8/layout/process1"/>
    <dgm:cxn modelId="{0311B2DE-AF40-4F2E-A68B-5A0075CCD658}" type="presOf" srcId="{DC522E44-2E9B-4E7F-9531-ADBFD0DC5E76}" destId="{C1902080-E7EA-470B-8598-3395ECCD7EC3}" srcOrd="1" destOrd="0" presId="urn:microsoft.com/office/officeart/2005/8/layout/process1"/>
    <dgm:cxn modelId="{A7B4C9DE-4795-49EB-B588-3A1ECDCD525D}" srcId="{462F9747-6536-4A41-B505-4E49E7D67459}" destId="{F8A6D5C9-D1B4-483A-92DB-DC18478F7429}" srcOrd="2" destOrd="0" parTransId="{0F7FC3E1-6A88-462F-AED8-AAA8D6DF339E}" sibTransId="{920393D4-107D-478E-B529-DECC35437543}"/>
    <dgm:cxn modelId="{35C59DF5-CC31-47D9-8B6A-FB012FE241D9}" srcId="{0F002252-5833-434C-9EC1-A4D8F1ECB530}" destId="{50748E0E-83F1-4BF4-8CEE-D65722CB9BFA}" srcOrd="2" destOrd="0" parTransId="{C9CD115E-099D-4BD7-9063-D45C7F56B450}" sibTransId="{03963BD0-9269-4EEF-AAD2-74F83824C84C}"/>
    <dgm:cxn modelId="{03DE90FB-89DB-4161-81A6-DBFF58937B7A}" type="presOf" srcId="{3BC59AB4-59E6-4704-B9DA-A1A57E699CC5}" destId="{B5AAB33B-50DB-4D07-BEAA-93C6F9F80877}" srcOrd="0" destOrd="0" presId="urn:microsoft.com/office/officeart/2005/8/layout/process1"/>
    <dgm:cxn modelId="{495EB9FB-8346-43AE-B186-567A5C1E3BD9}" srcId="{3BC59AB4-59E6-4704-B9DA-A1A57E699CC5}" destId="{0F002252-5833-434C-9EC1-A4D8F1ECB530}" srcOrd="0" destOrd="0" parTransId="{346E9973-6B31-4F2B-BCE6-E5E6C7621F6C}" sibTransId="{701C8415-A8CD-496D-8E03-2EFCAF278E52}"/>
    <dgm:cxn modelId="{281DBA22-AE2C-4148-B34A-E5DB1589820D}" type="presParOf" srcId="{B5AAB33B-50DB-4D07-BEAA-93C6F9F80877}" destId="{FE542E3E-4B14-4D26-A818-AD00AB4990F1}" srcOrd="0" destOrd="0" presId="urn:microsoft.com/office/officeart/2005/8/layout/process1"/>
    <dgm:cxn modelId="{BA429A72-051C-4F44-94B6-9F273BA4C3C4}" type="presParOf" srcId="{B5AAB33B-50DB-4D07-BEAA-93C6F9F80877}" destId="{CE0C022A-E1F0-4CED-82EC-42CA6E76A507}" srcOrd="1" destOrd="0" presId="urn:microsoft.com/office/officeart/2005/8/layout/process1"/>
    <dgm:cxn modelId="{A6B0B417-BDBA-4484-9BE0-192E33C074A5}" type="presParOf" srcId="{CE0C022A-E1F0-4CED-82EC-42CA6E76A507}" destId="{87F1EAAB-C337-482F-82E5-7C0FCC6B9ED2}" srcOrd="0" destOrd="0" presId="urn:microsoft.com/office/officeart/2005/8/layout/process1"/>
    <dgm:cxn modelId="{EC308C35-DF0A-48B0-9E56-46CDBD78A6FA}" type="presParOf" srcId="{B5AAB33B-50DB-4D07-BEAA-93C6F9F80877}" destId="{9E4389EE-D08B-4F45-A594-AD1045E25599}" srcOrd="2" destOrd="0" presId="urn:microsoft.com/office/officeart/2005/8/layout/process1"/>
    <dgm:cxn modelId="{471326A9-E0E5-40A0-B727-85D5BD1773CF}" type="presParOf" srcId="{B5AAB33B-50DB-4D07-BEAA-93C6F9F80877}" destId="{4CF868E1-0A4C-4870-8FB2-52CCBDA2012B}" srcOrd="3" destOrd="0" presId="urn:microsoft.com/office/officeart/2005/8/layout/process1"/>
    <dgm:cxn modelId="{67A95871-3B02-4A90-9123-83D314F538DA}" type="presParOf" srcId="{4CF868E1-0A4C-4870-8FB2-52CCBDA2012B}" destId="{C1902080-E7EA-470B-8598-3395ECCD7EC3}" srcOrd="0" destOrd="0" presId="urn:microsoft.com/office/officeart/2005/8/layout/process1"/>
    <dgm:cxn modelId="{6BE194D1-6C8F-45C2-8B9D-885A108D28C0}" type="presParOf" srcId="{B5AAB33B-50DB-4D07-BEAA-93C6F9F80877}" destId="{6CA6527A-FF06-4A9F-B27F-B2FF6576080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C59AB4-59E6-4704-B9DA-A1A57E699CC5}" type="doc">
      <dgm:prSet loTypeId="urn:microsoft.com/office/officeart/2005/8/layout/process1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002252-5833-434C-9EC1-A4D8F1ECB530}">
      <dgm:prSet phldrT="[Text]" custT="1"/>
      <dgm:spPr/>
      <dgm:t>
        <a:bodyPr/>
        <a:lstStyle/>
        <a:p>
          <a:r>
            <a:rPr lang="en-US" sz="2400" dirty="0"/>
            <a:t>Prepare data for each job</a:t>
          </a:r>
        </a:p>
      </dgm:t>
    </dgm:pt>
    <dgm:pt modelId="{346E9973-6B31-4F2B-BCE6-E5E6C7621F6C}" type="parTrans" cxnId="{495EB9FB-8346-43AE-B186-567A5C1E3BD9}">
      <dgm:prSet/>
      <dgm:spPr/>
      <dgm:t>
        <a:bodyPr/>
        <a:lstStyle/>
        <a:p>
          <a:endParaRPr lang="en-US"/>
        </a:p>
      </dgm:t>
    </dgm:pt>
    <dgm:pt modelId="{701C8415-A8CD-496D-8E03-2EFCAF278E52}" type="sibTrans" cxnId="{495EB9FB-8346-43AE-B186-567A5C1E3BD9}">
      <dgm:prSet/>
      <dgm:spPr/>
      <dgm:t>
        <a:bodyPr/>
        <a:lstStyle/>
        <a:p>
          <a:endParaRPr lang="en-US"/>
        </a:p>
      </dgm:t>
    </dgm:pt>
    <dgm:pt modelId="{D914CF07-7BBA-4D51-8550-2E9B6D1AE7B1}">
      <dgm:prSet phldrT="[Text]" custT="1"/>
      <dgm:spPr/>
      <dgm:t>
        <a:bodyPr/>
        <a:lstStyle/>
        <a:p>
          <a:r>
            <a:rPr lang="en-US" sz="2400" dirty="0"/>
            <a:t>Shortest route from properties to fire stations</a:t>
          </a:r>
        </a:p>
      </dgm:t>
    </dgm:pt>
    <dgm:pt modelId="{C3C078F9-3B07-4B40-9432-3CC0EFFA6E3C}" type="parTrans" cxnId="{A0DED410-464A-43CC-8001-98FBB506DB83}">
      <dgm:prSet/>
      <dgm:spPr/>
      <dgm:t>
        <a:bodyPr/>
        <a:lstStyle/>
        <a:p>
          <a:endParaRPr lang="en-US"/>
        </a:p>
      </dgm:t>
    </dgm:pt>
    <dgm:pt modelId="{DC522E44-2E9B-4E7F-9531-ADBFD0DC5E76}" type="sibTrans" cxnId="{A0DED410-464A-43CC-8001-98FBB506DB83}">
      <dgm:prSet/>
      <dgm:spPr/>
      <dgm:t>
        <a:bodyPr/>
        <a:lstStyle/>
        <a:p>
          <a:endParaRPr lang="en-US"/>
        </a:p>
      </dgm:t>
    </dgm:pt>
    <dgm:pt modelId="{462F9747-6536-4A41-B505-4E49E7D67459}">
      <dgm:prSet phldrT="[Text]" custT="1"/>
      <dgm:spPr/>
      <dgm:t>
        <a:bodyPr/>
        <a:lstStyle/>
        <a:p>
          <a:r>
            <a:rPr lang="en-US" sz="2400" dirty="0"/>
            <a:t>Record results and merge chunks</a:t>
          </a:r>
          <a:endParaRPr lang="en-US" sz="2400" b="1" dirty="0"/>
        </a:p>
      </dgm:t>
    </dgm:pt>
    <dgm:pt modelId="{230D9E86-3E01-40C2-83B6-EDC5AD842104}" type="parTrans" cxnId="{BD8E7FCD-66BF-4A25-B42B-BF1C586EA8E5}">
      <dgm:prSet/>
      <dgm:spPr/>
      <dgm:t>
        <a:bodyPr/>
        <a:lstStyle/>
        <a:p>
          <a:endParaRPr lang="en-US"/>
        </a:p>
      </dgm:t>
    </dgm:pt>
    <dgm:pt modelId="{EDB432E5-D6BD-4891-A7B8-5985D65F6358}" type="sibTrans" cxnId="{BD8E7FCD-66BF-4A25-B42B-BF1C586EA8E5}">
      <dgm:prSet/>
      <dgm:spPr/>
      <dgm:t>
        <a:bodyPr/>
        <a:lstStyle/>
        <a:p>
          <a:endParaRPr lang="en-US"/>
        </a:p>
      </dgm:t>
    </dgm:pt>
    <dgm:pt modelId="{1D2FDE3D-5A03-44B2-91BB-45578394BC10}">
      <dgm:prSet/>
      <dgm:spPr/>
      <dgm:t>
        <a:bodyPr/>
        <a:lstStyle/>
        <a:p>
          <a:r>
            <a:rPr lang="en-US" sz="2000" b="0" dirty="0"/>
            <a:t>Use </a:t>
          </a:r>
          <a:r>
            <a:rPr lang="en-US" sz="2000" b="0" dirty="0" err="1"/>
            <a:t>KDTree</a:t>
          </a:r>
          <a:r>
            <a:rPr lang="en-US" sz="2000" b="0" dirty="0"/>
            <a:t> to give 5 nearest fire stations to properties based on the address </a:t>
          </a:r>
        </a:p>
      </dgm:t>
    </dgm:pt>
    <dgm:pt modelId="{3204E715-844B-4387-AF40-76DBED58F08F}" type="parTrans" cxnId="{F5E6EB00-9FE7-403B-A3E0-E24A675C01D8}">
      <dgm:prSet/>
      <dgm:spPr/>
      <dgm:t>
        <a:bodyPr/>
        <a:lstStyle/>
        <a:p>
          <a:endParaRPr lang="en-US"/>
        </a:p>
      </dgm:t>
    </dgm:pt>
    <dgm:pt modelId="{2B992665-2A3F-4B5C-A1F4-397C3B77F617}" type="sibTrans" cxnId="{F5E6EB00-9FE7-403B-A3E0-E24A675C01D8}">
      <dgm:prSet/>
      <dgm:spPr/>
      <dgm:t>
        <a:bodyPr/>
        <a:lstStyle/>
        <a:p>
          <a:endParaRPr lang="en-US"/>
        </a:p>
      </dgm:t>
    </dgm:pt>
    <dgm:pt modelId="{B157BC3E-B0EC-42D2-88E4-ADF5BD36468B}">
      <dgm:prSet custT="1"/>
      <dgm:spPr/>
      <dgm:t>
        <a:bodyPr/>
        <a:lstStyle/>
        <a:p>
          <a:r>
            <a:rPr lang="en-US" sz="2000" b="0" dirty="0"/>
            <a:t>Results follow the original property sequence.</a:t>
          </a:r>
        </a:p>
      </dgm:t>
    </dgm:pt>
    <dgm:pt modelId="{00C1E66A-E956-4CEB-BB78-C9CDA3DE8100}" type="parTrans" cxnId="{5047AB99-5343-40E6-924C-408CA05534F6}">
      <dgm:prSet/>
      <dgm:spPr/>
      <dgm:t>
        <a:bodyPr/>
        <a:lstStyle/>
        <a:p>
          <a:endParaRPr lang="en-US"/>
        </a:p>
      </dgm:t>
    </dgm:pt>
    <dgm:pt modelId="{9E8F2C68-CDF9-4002-9A86-A9F687606C16}" type="sibTrans" cxnId="{5047AB99-5343-40E6-924C-408CA05534F6}">
      <dgm:prSet/>
      <dgm:spPr/>
      <dgm:t>
        <a:bodyPr/>
        <a:lstStyle/>
        <a:p>
          <a:endParaRPr lang="en-US"/>
        </a:p>
      </dgm:t>
    </dgm:pt>
    <dgm:pt modelId="{F8A6D5C9-D1B4-483A-92DB-DC18478F7429}">
      <dgm:prSet custT="1"/>
      <dgm:spPr/>
      <dgm:t>
        <a:bodyPr/>
        <a:lstStyle/>
        <a:p>
          <a:r>
            <a:rPr lang="en-US" sz="2000" b="0" dirty="0"/>
            <a:t>….</a:t>
          </a:r>
        </a:p>
      </dgm:t>
    </dgm:pt>
    <dgm:pt modelId="{0F7FC3E1-6A88-462F-AED8-AAA8D6DF339E}" type="parTrans" cxnId="{A7B4C9DE-4795-49EB-B588-3A1ECDCD525D}">
      <dgm:prSet/>
      <dgm:spPr/>
      <dgm:t>
        <a:bodyPr/>
        <a:lstStyle/>
        <a:p>
          <a:endParaRPr lang="en-US"/>
        </a:p>
      </dgm:t>
    </dgm:pt>
    <dgm:pt modelId="{920393D4-107D-478E-B529-DECC35437543}" type="sibTrans" cxnId="{A7B4C9DE-4795-49EB-B588-3A1ECDCD525D}">
      <dgm:prSet/>
      <dgm:spPr/>
      <dgm:t>
        <a:bodyPr/>
        <a:lstStyle/>
        <a:p>
          <a:endParaRPr lang="en-US"/>
        </a:p>
      </dgm:t>
    </dgm:pt>
    <dgm:pt modelId="{75BBFAE9-8BBA-413E-86AA-497C58916B73}">
      <dgm:prSet/>
      <dgm:spPr/>
      <dgm:t>
        <a:bodyPr/>
        <a:lstStyle/>
        <a:p>
          <a:r>
            <a:rPr lang="en-US" sz="2000" b="0" dirty="0"/>
            <a:t>Ask OpenStreetMap to obtain the best route.</a:t>
          </a:r>
        </a:p>
      </dgm:t>
    </dgm:pt>
    <dgm:pt modelId="{B27915C9-8983-498B-B8FF-737904F10284}" type="parTrans" cxnId="{5E1E7999-352C-4A3D-A2D5-C0175FBA0245}">
      <dgm:prSet/>
      <dgm:spPr/>
      <dgm:t>
        <a:bodyPr/>
        <a:lstStyle/>
        <a:p>
          <a:endParaRPr lang="en-US"/>
        </a:p>
      </dgm:t>
    </dgm:pt>
    <dgm:pt modelId="{49D1E706-4DE3-4590-8EBF-0E51BFEAFEA9}" type="sibTrans" cxnId="{5E1E7999-352C-4A3D-A2D5-C0175FBA0245}">
      <dgm:prSet/>
      <dgm:spPr/>
      <dgm:t>
        <a:bodyPr/>
        <a:lstStyle/>
        <a:p>
          <a:endParaRPr lang="en-US"/>
        </a:p>
      </dgm:t>
    </dgm:pt>
    <dgm:pt modelId="{939CBC4D-636D-4DFE-9A22-D69214C6FC60}">
      <dgm:prSet phldrT="[Text]" custT="1"/>
      <dgm:spPr/>
      <dgm:t>
        <a:bodyPr/>
        <a:lstStyle/>
        <a:p>
          <a:r>
            <a:rPr lang="en-US" sz="2000" b="0" dirty="0"/>
            <a:t>Divide 18 million properties into chunks (300,000)</a:t>
          </a:r>
        </a:p>
      </dgm:t>
    </dgm:pt>
    <dgm:pt modelId="{94513043-1B0F-4154-9F4E-F87BBBFCAC88}" type="sibTrans" cxnId="{09441289-0606-4470-85E0-C1ABA444E79D}">
      <dgm:prSet/>
      <dgm:spPr/>
      <dgm:t>
        <a:bodyPr/>
        <a:lstStyle/>
        <a:p>
          <a:endParaRPr lang="en-US"/>
        </a:p>
      </dgm:t>
    </dgm:pt>
    <dgm:pt modelId="{79099D9B-7FB0-4CAA-9CEF-F52A43D83984}" type="parTrans" cxnId="{09441289-0606-4470-85E0-C1ABA444E79D}">
      <dgm:prSet/>
      <dgm:spPr/>
      <dgm:t>
        <a:bodyPr/>
        <a:lstStyle/>
        <a:p>
          <a:endParaRPr lang="en-US"/>
        </a:p>
      </dgm:t>
    </dgm:pt>
    <dgm:pt modelId="{A6DAFF26-BDCE-4F57-BFBC-FB293D1E9CBE}">
      <dgm:prSet phldrT="[Text]" custT="1"/>
      <dgm:spPr/>
      <dgm:t>
        <a:bodyPr/>
        <a:lstStyle/>
        <a:p>
          <a:r>
            <a:rPr lang="en-US" sz="2000" b="0" dirty="0"/>
            <a:t>Each chunk requests using table API in 4 pipelines.</a:t>
          </a:r>
        </a:p>
      </dgm:t>
    </dgm:pt>
    <dgm:pt modelId="{A17C389A-63C5-480C-9ADD-1ED9498DF98D}" type="sibTrans" cxnId="{DFE97E30-0627-4574-A055-59B40C8108CD}">
      <dgm:prSet/>
      <dgm:spPr/>
      <dgm:t>
        <a:bodyPr/>
        <a:lstStyle/>
        <a:p>
          <a:endParaRPr lang="en-US"/>
        </a:p>
      </dgm:t>
    </dgm:pt>
    <dgm:pt modelId="{5FC03CAC-E798-4921-AC2E-1BAEE37D2C81}" type="parTrans" cxnId="{DFE97E30-0627-4574-A055-59B40C8108CD}">
      <dgm:prSet/>
      <dgm:spPr/>
      <dgm:t>
        <a:bodyPr/>
        <a:lstStyle/>
        <a:p>
          <a:endParaRPr lang="en-US"/>
        </a:p>
      </dgm:t>
    </dgm:pt>
    <dgm:pt modelId="{4AD3BCE8-F895-4B12-908B-ADBF2596DD23}">
      <dgm:prSet custT="1"/>
      <dgm:spPr/>
      <dgm:t>
        <a:bodyPr/>
        <a:lstStyle/>
        <a:p>
          <a:r>
            <a:rPr lang="en-US" sz="2000" b="0" dirty="0"/>
            <a:t>No </a:t>
          </a:r>
          <a:r>
            <a:rPr lang="en-US" sz="2000" b="0" dirty="0" err="1"/>
            <a:t>NaN</a:t>
          </a:r>
          <a:r>
            <a:rPr lang="en-US" sz="2000" b="0" dirty="0"/>
            <a:t> in results.</a:t>
          </a:r>
        </a:p>
      </dgm:t>
    </dgm:pt>
    <dgm:pt modelId="{DE4186C9-5800-46DC-8963-A91F227979E7}" type="parTrans" cxnId="{012A7626-FEA6-4309-AE69-78C087E8B50E}">
      <dgm:prSet/>
      <dgm:spPr/>
      <dgm:t>
        <a:bodyPr/>
        <a:lstStyle/>
        <a:p>
          <a:endParaRPr lang="en-US"/>
        </a:p>
      </dgm:t>
    </dgm:pt>
    <dgm:pt modelId="{DCAB16A6-2E16-4B51-A7FD-0E58B903D45C}" type="sibTrans" cxnId="{012A7626-FEA6-4309-AE69-78C087E8B50E}">
      <dgm:prSet/>
      <dgm:spPr/>
      <dgm:t>
        <a:bodyPr/>
        <a:lstStyle/>
        <a:p>
          <a:endParaRPr lang="en-US"/>
        </a:p>
      </dgm:t>
    </dgm:pt>
    <dgm:pt modelId="{B5AAB33B-50DB-4D07-BEAA-93C6F9F80877}" type="pres">
      <dgm:prSet presAssocID="{3BC59AB4-59E6-4704-B9DA-A1A57E699CC5}" presName="Name0" presStyleCnt="0">
        <dgm:presLayoutVars>
          <dgm:dir/>
          <dgm:resizeHandles val="exact"/>
        </dgm:presLayoutVars>
      </dgm:prSet>
      <dgm:spPr/>
    </dgm:pt>
    <dgm:pt modelId="{FE542E3E-4B14-4D26-A818-AD00AB4990F1}" type="pres">
      <dgm:prSet presAssocID="{0F002252-5833-434C-9EC1-A4D8F1ECB530}" presName="node" presStyleLbl="node1" presStyleIdx="0" presStyleCnt="3">
        <dgm:presLayoutVars>
          <dgm:bulletEnabled val="1"/>
        </dgm:presLayoutVars>
      </dgm:prSet>
      <dgm:spPr/>
    </dgm:pt>
    <dgm:pt modelId="{CE0C022A-E1F0-4CED-82EC-42CA6E76A507}" type="pres">
      <dgm:prSet presAssocID="{701C8415-A8CD-496D-8E03-2EFCAF278E52}" presName="sibTrans" presStyleLbl="sibTrans2D1" presStyleIdx="0" presStyleCnt="2"/>
      <dgm:spPr/>
    </dgm:pt>
    <dgm:pt modelId="{87F1EAAB-C337-482F-82E5-7C0FCC6B9ED2}" type="pres">
      <dgm:prSet presAssocID="{701C8415-A8CD-496D-8E03-2EFCAF278E52}" presName="connectorText" presStyleLbl="sibTrans2D1" presStyleIdx="0" presStyleCnt="2"/>
      <dgm:spPr/>
    </dgm:pt>
    <dgm:pt modelId="{9E4389EE-D08B-4F45-A594-AD1045E25599}" type="pres">
      <dgm:prSet presAssocID="{D914CF07-7BBA-4D51-8550-2E9B6D1AE7B1}" presName="node" presStyleLbl="node1" presStyleIdx="1" presStyleCnt="3" custScaleX="124895">
        <dgm:presLayoutVars>
          <dgm:bulletEnabled val="1"/>
        </dgm:presLayoutVars>
      </dgm:prSet>
      <dgm:spPr/>
    </dgm:pt>
    <dgm:pt modelId="{4CF868E1-0A4C-4870-8FB2-52CCBDA2012B}" type="pres">
      <dgm:prSet presAssocID="{DC522E44-2E9B-4E7F-9531-ADBFD0DC5E76}" presName="sibTrans" presStyleLbl="sibTrans2D1" presStyleIdx="1" presStyleCnt="2"/>
      <dgm:spPr/>
    </dgm:pt>
    <dgm:pt modelId="{C1902080-E7EA-470B-8598-3395ECCD7EC3}" type="pres">
      <dgm:prSet presAssocID="{DC522E44-2E9B-4E7F-9531-ADBFD0DC5E76}" presName="connectorText" presStyleLbl="sibTrans2D1" presStyleIdx="1" presStyleCnt="2"/>
      <dgm:spPr/>
    </dgm:pt>
    <dgm:pt modelId="{6CA6527A-FF06-4A9F-B27F-B2FF6576080F}" type="pres">
      <dgm:prSet presAssocID="{462F9747-6536-4A41-B505-4E49E7D67459}" presName="node" presStyleLbl="node1" presStyleIdx="2" presStyleCnt="3" custLinFactNeighborX="-2671" custLinFactNeighborY="0">
        <dgm:presLayoutVars>
          <dgm:bulletEnabled val="1"/>
        </dgm:presLayoutVars>
      </dgm:prSet>
      <dgm:spPr/>
    </dgm:pt>
  </dgm:ptLst>
  <dgm:cxnLst>
    <dgm:cxn modelId="{F5E6EB00-9FE7-403B-A3E0-E24A675C01D8}" srcId="{D914CF07-7BBA-4D51-8550-2E9B6D1AE7B1}" destId="{1D2FDE3D-5A03-44B2-91BB-45578394BC10}" srcOrd="0" destOrd="0" parTransId="{3204E715-844B-4387-AF40-76DBED58F08F}" sibTransId="{2B992665-2A3F-4B5C-A1F4-397C3B77F617}"/>
    <dgm:cxn modelId="{A0DED410-464A-43CC-8001-98FBB506DB83}" srcId="{3BC59AB4-59E6-4704-B9DA-A1A57E699CC5}" destId="{D914CF07-7BBA-4D51-8550-2E9B6D1AE7B1}" srcOrd="1" destOrd="0" parTransId="{C3C078F9-3B07-4B40-9432-3CC0EFFA6E3C}" sibTransId="{DC522E44-2E9B-4E7F-9531-ADBFD0DC5E76}"/>
    <dgm:cxn modelId="{CD7ADA11-E36C-4B44-9132-BD496AE36F62}" type="presOf" srcId="{701C8415-A8CD-496D-8E03-2EFCAF278E52}" destId="{87F1EAAB-C337-482F-82E5-7C0FCC6B9ED2}" srcOrd="1" destOrd="0" presId="urn:microsoft.com/office/officeart/2005/8/layout/process1"/>
    <dgm:cxn modelId="{012A7626-FEA6-4309-AE69-78C087E8B50E}" srcId="{462F9747-6536-4A41-B505-4E49E7D67459}" destId="{4AD3BCE8-F895-4B12-908B-ADBF2596DD23}" srcOrd="1" destOrd="0" parTransId="{DE4186C9-5800-46DC-8963-A91F227979E7}" sibTransId="{DCAB16A6-2E16-4B51-A7FD-0E58B903D45C}"/>
    <dgm:cxn modelId="{E4AB0328-4F9F-40D8-8678-82F0DA1F0370}" type="presOf" srcId="{D914CF07-7BBA-4D51-8550-2E9B6D1AE7B1}" destId="{9E4389EE-D08B-4F45-A594-AD1045E25599}" srcOrd="0" destOrd="0" presId="urn:microsoft.com/office/officeart/2005/8/layout/process1"/>
    <dgm:cxn modelId="{396B4430-95AC-40E0-94B3-789A44DF8A0C}" type="presOf" srcId="{A6DAFF26-BDCE-4F57-BFBC-FB293D1E9CBE}" destId="{FE542E3E-4B14-4D26-A818-AD00AB4990F1}" srcOrd="0" destOrd="2" presId="urn:microsoft.com/office/officeart/2005/8/layout/process1"/>
    <dgm:cxn modelId="{DFE97E30-0627-4574-A055-59B40C8108CD}" srcId="{0F002252-5833-434C-9EC1-A4D8F1ECB530}" destId="{A6DAFF26-BDCE-4F57-BFBC-FB293D1E9CBE}" srcOrd="1" destOrd="0" parTransId="{5FC03CAC-E798-4921-AC2E-1BAEE37D2C81}" sibTransId="{A17C389A-63C5-480C-9ADD-1ED9498DF98D}"/>
    <dgm:cxn modelId="{070E1436-1C03-4F41-896E-48966DBCBFCD}" type="presOf" srcId="{0F002252-5833-434C-9EC1-A4D8F1ECB530}" destId="{FE542E3E-4B14-4D26-A818-AD00AB4990F1}" srcOrd="0" destOrd="0" presId="urn:microsoft.com/office/officeart/2005/8/layout/process1"/>
    <dgm:cxn modelId="{F292FF75-FDA8-423F-8E0E-F2A037EB2BBB}" type="presOf" srcId="{75BBFAE9-8BBA-413E-86AA-497C58916B73}" destId="{9E4389EE-D08B-4F45-A594-AD1045E25599}" srcOrd="0" destOrd="2" presId="urn:microsoft.com/office/officeart/2005/8/layout/process1"/>
    <dgm:cxn modelId="{3570D659-0F7B-4BE7-9872-03B7DF515BC5}" type="presOf" srcId="{4AD3BCE8-F895-4B12-908B-ADBF2596DD23}" destId="{6CA6527A-FF06-4A9F-B27F-B2FF6576080F}" srcOrd="0" destOrd="2" presId="urn:microsoft.com/office/officeart/2005/8/layout/process1"/>
    <dgm:cxn modelId="{5AF4AF83-1EF2-4DE2-8D24-1FA18BE38072}" type="presOf" srcId="{939CBC4D-636D-4DFE-9A22-D69214C6FC60}" destId="{FE542E3E-4B14-4D26-A818-AD00AB4990F1}" srcOrd="0" destOrd="1" presId="urn:microsoft.com/office/officeart/2005/8/layout/process1"/>
    <dgm:cxn modelId="{A1D5D783-762D-40BB-A47E-7324058A6824}" type="presOf" srcId="{701C8415-A8CD-496D-8E03-2EFCAF278E52}" destId="{CE0C022A-E1F0-4CED-82EC-42CA6E76A507}" srcOrd="0" destOrd="0" presId="urn:microsoft.com/office/officeart/2005/8/layout/process1"/>
    <dgm:cxn modelId="{09441289-0606-4470-85E0-C1ABA444E79D}" srcId="{0F002252-5833-434C-9EC1-A4D8F1ECB530}" destId="{939CBC4D-636D-4DFE-9A22-D69214C6FC60}" srcOrd="0" destOrd="0" parTransId="{79099D9B-7FB0-4CAA-9CEF-F52A43D83984}" sibTransId="{94513043-1B0F-4154-9F4E-F87BBBFCAC88}"/>
    <dgm:cxn modelId="{5E1E7999-352C-4A3D-A2D5-C0175FBA0245}" srcId="{D914CF07-7BBA-4D51-8550-2E9B6D1AE7B1}" destId="{75BBFAE9-8BBA-413E-86AA-497C58916B73}" srcOrd="1" destOrd="0" parTransId="{B27915C9-8983-498B-B8FF-737904F10284}" sibTransId="{49D1E706-4DE3-4590-8EBF-0E51BFEAFEA9}"/>
    <dgm:cxn modelId="{5047AB99-5343-40E6-924C-408CA05534F6}" srcId="{462F9747-6536-4A41-B505-4E49E7D67459}" destId="{B157BC3E-B0EC-42D2-88E4-ADF5BD36468B}" srcOrd="0" destOrd="0" parTransId="{00C1E66A-E956-4CEB-BB78-C9CDA3DE8100}" sibTransId="{9E8F2C68-CDF9-4002-9A86-A9F687606C16}"/>
    <dgm:cxn modelId="{65A6599E-1962-46A6-BB4B-8B28BB3CC3A5}" type="presOf" srcId="{F8A6D5C9-D1B4-483A-92DB-DC18478F7429}" destId="{6CA6527A-FF06-4A9F-B27F-B2FF6576080F}" srcOrd="0" destOrd="3" presId="urn:microsoft.com/office/officeart/2005/8/layout/process1"/>
    <dgm:cxn modelId="{3F416BC5-984F-4B1E-9299-439E79DBBD03}" type="presOf" srcId="{1D2FDE3D-5A03-44B2-91BB-45578394BC10}" destId="{9E4389EE-D08B-4F45-A594-AD1045E25599}" srcOrd="0" destOrd="1" presId="urn:microsoft.com/office/officeart/2005/8/layout/process1"/>
    <dgm:cxn modelId="{827474C6-1331-4C1C-8B6B-DFA7F4914179}" type="presOf" srcId="{DC522E44-2E9B-4E7F-9531-ADBFD0DC5E76}" destId="{4CF868E1-0A4C-4870-8FB2-52CCBDA2012B}" srcOrd="0" destOrd="0" presId="urn:microsoft.com/office/officeart/2005/8/layout/process1"/>
    <dgm:cxn modelId="{BD8E7FCD-66BF-4A25-B42B-BF1C586EA8E5}" srcId="{3BC59AB4-59E6-4704-B9DA-A1A57E699CC5}" destId="{462F9747-6536-4A41-B505-4E49E7D67459}" srcOrd="2" destOrd="0" parTransId="{230D9E86-3E01-40C2-83B6-EDC5AD842104}" sibTransId="{EDB432E5-D6BD-4891-A7B8-5985D65F6358}"/>
    <dgm:cxn modelId="{308BD7CD-7B58-4A8F-B1AE-55C97AC0F68C}" type="presOf" srcId="{B157BC3E-B0EC-42D2-88E4-ADF5BD36468B}" destId="{6CA6527A-FF06-4A9F-B27F-B2FF6576080F}" srcOrd="0" destOrd="1" presId="urn:microsoft.com/office/officeart/2005/8/layout/process1"/>
    <dgm:cxn modelId="{2E1C6BD0-929E-49F6-AA9A-9704DE0807F3}" type="presOf" srcId="{462F9747-6536-4A41-B505-4E49E7D67459}" destId="{6CA6527A-FF06-4A9F-B27F-B2FF6576080F}" srcOrd="0" destOrd="0" presId="urn:microsoft.com/office/officeart/2005/8/layout/process1"/>
    <dgm:cxn modelId="{0311B2DE-AF40-4F2E-A68B-5A0075CCD658}" type="presOf" srcId="{DC522E44-2E9B-4E7F-9531-ADBFD0DC5E76}" destId="{C1902080-E7EA-470B-8598-3395ECCD7EC3}" srcOrd="1" destOrd="0" presId="urn:microsoft.com/office/officeart/2005/8/layout/process1"/>
    <dgm:cxn modelId="{A7B4C9DE-4795-49EB-B588-3A1ECDCD525D}" srcId="{462F9747-6536-4A41-B505-4E49E7D67459}" destId="{F8A6D5C9-D1B4-483A-92DB-DC18478F7429}" srcOrd="2" destOrd="0" parTransId="{0F7FC3E1-6A88-462F-AED8-AAA8D6DF339E}" sibTransId="{920393D4-107D-478E-B529-DECC35437543}"/>
    <dgm:cxn modelId="{03DE90FB-89DB-4161-81A6-DBFF58937B7A}" type="presOf" srcId="{3BC59AB4-59E6-4704-B9DA-A1A57E699CC5}" destId="{B5AAB33B-50DB-4D07-BEAA-93C6F9F80877}" srcOrd="0" destOrd="0" presId="urn:microsoft.com/office/officeart/2005/8/layout/process1"/>
    <dgm:cxn modelId="{495EB9FB-8346-43AE-B186-567A5C1E3BD9}" srcId="{3BC59AB4-59E6-4704-B9DA-A1A57E699CC5}" destId="{0F002252-5833-434C-9EC1-A4D8F1ECB530}" srcOrd="0" destOrd="0" parTransId="{346E9973-6B31-4F2B-BCE6-E5E6C7621F6C}" sibTransId="{701C8415-A8CD-496D-8E03-2EFCAF278E52}"/>
    <dgm:cxn modelId="{281DBA22-AE2C-4148-B34A-E5DB1589820D}" type="presParOf" srcId="{B5AAB33B-50DB-4D07-BEAA-93C6F9F80877}" destId="{FE542E3E-4B14-4D26-A818-AD00AB4990F1}" srcOrd="0" destOrd="0" presId="urn:microsoft.com/office/officeart/2005/8/layout/process1"/>
    <dgm:cxn modelId="{BA429A72-051C-4F44-94B6-9F273BA4C3C4}" type="presParOf" srcId="{B5AAB33B-50DB-4D07-BEAA-93C6F9F80877}" destId="{CE0C022A-E1F0-4CED-82EC-42CA6E76A507}" srcOrd="1" destOrd="0" presId="urn:microsoft.com/office/officeart/2005/8/layout/process1"/>
    <dgm:cxn modelId="{A6B0B417-BDBA-4484-9BE0-192E33C074A5}" type="presParOf" srcId="{CE0C022A-E1F0-4CED-82EC-42CA6E76A507}" destId="{87F1EAAB-C337-482F-82E5-7C0FCC6B9ED2}" srcOrd="0" destOrd="0" presId="urn:microsoft.com/office/officeart/2005/8/layout/process1"/>
    <dgm:cxn modelId="{EC308C35-DF0A-48B0-9E56-46CDBD78A6FA}" type="presParOf" srcId="{B5AAB33B-50DB-4D07-BEAA-93C6F9F80877}" destId="{9E4389EE-D08B-4F45-A594-AD1045E25599}" srcOrd="2" destOrd="0" presId="urn:microsoft.com/office/officeart/2005/8/layout/process1"/>
    <dgm:cxn modelId="{471326A9-E0E5-40A0-B727-85D5BD1773CF}" type="presParOf" srcId="{B5AAB33B-50DB-4D07-BEAA-93C6F9F80877}" destId="{4CF868E1-0A4C-4870-8FB2-52CCBDA2012B}" srcOrd="3" destOrd="0" presId="urn:microsoft.com/office/officeart/2005/8/layout/process1"/>
    <dgm:cxn modelId="{67A95871-3B02-4A90-9123-83D314F538DA}" type="presParOf" srcId="{4CF868E1-0A4C-4870-8FB2-52CCBDA2012B}" destId="{C1902080-E7EA-470B-8598-3395ECCD7EC3}" srcOrd="0" destOrd="0" presId="urn:microsoft.com/office/officeart/2005/8/layout/process1"/>
    <dgm:cxn modelId="{6BE194D1-6C8F-45C2-8B9D-885A108D28C0}" type="presParOf" srcId="{B5AAB33B-50DB-4D07-BEAA-93C6F9F80877}" destId="{6CA6527A-FF06-4A9F-B27F-B2FF6576080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542E3E-4B14-4D26-A818-AD00AB4990F1}">
      <dsp:nvSpPr>
        <dsp:cNvPr id="0" name=""/>
        <dsp:cNvSpPr/>
      </dsp:nvSpPr>
      <dsp:spPr>
        <a:xfrm>
          <a:off x="10679" y="644188"/>
          <a:ext cx="3191837" cy="28128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</a:rPr>
            <a:t>How can we speed up the previous codes?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Table API?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Multi-threads?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Multi-processors?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/>
            <a:t>Asyncio</a:t>
          </a:r>
          <a:r>
            <a:rPr lang="en-US" sz="2000" b="0" kern="1200" dirty="0"/>
            <a:t>?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…</a:t>
          </a:r>
        </a:p>
      </dsp:txBody>
      <dsp:txXfrm>
        <a:off x="93063" y="726572"/>
        <a:ext cx="3027069" cy="2648039"/>
      </dsp:txXfrm>
    </dsp:sp>
    <dsp:sp modelId="{CE0C022A-E1F0-4CED-82EC-42CA6E76A507}">
      <dsp:nvSpPr>
        <dsp:cNvPr id="0" name=""/>
        <dsp:cNvSpPr/>
      </dsp:nvSpPr>
      <dsp:spPr>
        <a:xfrm>
          <a:off x="3521700" y="1654804"/>
          <a:ext cx="676669" cy="79157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3521700" y="1813119"/>
        <a:ext cx="473668" cy="474945"/>
      </dsp:txXfrm>
    </dsp:sp>
    <dsp:sp modelId="{9E4389EE-D08B-4F45-A594-AD1045E25599}">
      <dsp:nvSpPr>
        <dsp:cNvPr id="0" name=""/>
        <dsp:cNvSpPr/>
      </dsp:nvSpPr>
      <dsp:spPr>
        <a:xfrm>
          <a:off x="4479252" y="644188"/>
          <a:ext cx="3191837" cy="28128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</a:rPr>
            <a:t>How to handle 18 MM data within a week?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" b="0" kern="1200" dirty="0"/>
            <a:t>Parallel </a:t>
          </a:r>
          <a:r>
            <a:rPr lang="en-US" sz="100" kern="1200" dirty="0"/>
            <a:t>computation</a:t>
          </a:r>
          <a:r>
            <a:rPr lang="en-US" sz="100" b="0" kern="1200" dirty="0"/>
            <a:t>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More workspaces?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Pipeline?</a:t>
          </a:r>
        </a:p>
      </dsp:txBody>
      <dsp:txXfrm>
        <a:off x="4561636" y="726572"/>
        <a:ext cx="3027069" cy="2648039"/>
      </dsp:txXfrm>
    </dsp:sp>
    <dsp:sp modelId="{4CF868E1-0A4C-4870-8FB2-52CCBDA2012B}">
      <dsp:nvSpPr>
        <dsp:cNvPr id="0" name=""/>
        <dsp:cNvSpPr/>
      </dsp:nvSpPr>
      <dsp:spPr>
        <a:xfrm>
          <a:off x="7990273" y="1654804"/>
          <a:ext cx="676669" cy="79157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7990273" y="1813119"/>
        <a:ext cx="473668" cy="474945"/>
      </dsp:txXfrm>
    </dsp:sp>
    <dsp:sp modelId="{6CA6527A-FF06-4A9F-B27F-B2FF6576080F}">
      <dsp:nvSpPr>
        <dsp:cNvPr id="0" name=""/>
        <dsp:cNvSpPr/>
      </dsp:nvSpPr>
      <dsp:spPr>
        <a:xfrm>
          <a:off x="8947825" y="644188"/>
          <a:ext cx="3191837" cy="28128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</a:rPr>
            <a:t>How robust is the algorithm?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Give the same answer?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Handle new data?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….</a:t>
          </a:r>
        </a:p>
      </dsp:txBody>
      <dsp:txXfrm>
        <a:off x="9030209" y="726572"/>
        <a:ext cx="3027069" cy="26480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542E3E-4B14-4D26-A818-AD00AB4990F1}">
      <dsp:nvSpPr>
        <dsp:cNvPr id="0" name=""/>
        <dsp:cNvSpPr/>
      </dsp:nvSpPr>
      <dsp:spPr>
        <a:xfrm>
          <a:off x="9654" y="602626"/>
          <a:ext cx="2996093" cy="28959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Prepare data for each job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Divide 18 million properties into chunks (300,000)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Each chunk requests using table API in 4 pipelines.</a:t>
          </a:r>
        </a:p>
      </dsp:txBody>
      <dsp:txXfrm>
        <a:off x="94473" y="687445"/>
        <a:ext cx="2826455" cy="2726293"/>
      </dsp:txXfrm>
    </dsp:sp>
    <dsp:sp modelId="{CE0C022A-E1F0-4CED-82EC-42CA6E76A507}">
      <dsp:nvSpPr>
        <dsp:cNvPr id="0" name=""/>
        <dsp:cNvSpPr/>
      </dsp:nvSpPr>
      <dsp:spPr>
        <a:xfrm>
          <a:off x="3305357" y="1679076"/>
          <a:ext cx="635171" cy="74303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3305357" y="1827682"/>
        <a:ext cx="444620" cy="445819"/>
      </dsp:txXfrm>
    </dsp:sp>
    <dsp:sp modelId="{9E4389EE-D08B-4F45-A594-AD1045E25599}">
      <dsp:nvSpPr>
        <dsp:cNvPr id="0" name=""/>
        <dsp:cNvSpPr/>
      </dsp:nvSpPr>
      <dsp:spPr>
        <a:xfrm>
          <a:off x="4204185" y="602626"/>
          <a:ext cx="3741971" cy="28959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Shortest route from properties to fire stations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Use </a:t>
          </a:r>
          <a:r>
            <a:rPr lang="en-US" sz="2000" b="0" kern="1200" dirty="0" err="1"/>
            <a:t>KDTree</a:t>
          </a:r>
          <a:r>
            <a:rPr lang="en-US" sz="2000" b="0" kern="1200" dirty="0"/>
            <a:t> to give 5 nearest fire stations to properties based on the address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Ask OpenStreetMap to obtain the best route.</a:t>
          </a:r>
        </a:p>
      </dsp:txBody>
      <dsp:txXfrm>
        <a:off x="4289004" y="687445"/>
        <a:ext cx="3572333" cy="2726293"/>
      </dsp:txXfrm>
    </dsp:sp>
    <dsp:sp modelId="{4CF868E1-0A4C-4870-8FB2-52CCBDA2012B}">
      <dsp:nvSpPr>
        <dsp:cNvPr id="0" name=""/>
        <dsp:cNvSpPr/>
      </dsp:nvSpPr>
      <dsp:spPr>
        <a:xfrm>
          <a:off x="8237763" y="1679076"/>
          <a:ext cx="618206" cy="74303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8237763" y="1827682"/>
        <a:ext cx="432744" cy="445819"/>
      </dsp:txXfrm>
    </dsp:sp>
    <dsp:sp modelId="{6CA6527A-FF06-4A9F-B27F-B2FF6576080F}">
      <dsp:nvSpPr>
        <dsp:cNvPr id="0" name=""/>
        <dsp:cNvSpPr/>
      </dsp:nvSpPr>
      <dsp:spPr>
        <a:xfrm>
          <a:off x="9112583" y="602626"/>
          <a:ext cx="2996093" cy="28959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Record results and merge chunks</a:t>
          </a:r>
          <a:endParaRPr lang="en-US" sz="24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Results follow the original property sequence.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No </a:t>
          </a:r>
          <a:r>
            <a:rPr lang="en-US" sz="2000" b="0" kern="1200" dirty="0" err="1"/>
            <a:t>NaN</a:t>
          </a:r>
          <a:r>
            <a:rPr lang="en-US" sz="2000" b="0" kern="1200" dirty="0"/>
            <a:t> in results.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kern="1200" dirty="0"/>
            <a:t>….</a:t>
          </a:r>
        </a:p>
      </dsp:txBody>
      <dsp:txXfrm>
        <a:off x="9197402" y="687445"/>
        <a:ext cx="2826455" cy="27262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D9AF8A0-62DE-5965-6D05-494523E41E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6F807A-1DAA-D7D1-0641-C9C0F81C3C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D0218-03EC-494F-BE03-0EDC6D5664D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1A617-23B6-4A2F-01C7-0EAD887892F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383726-48DA-0CBD-6B2B-6B9722E6EF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22AAA-77DD-482A-BA5B-0F759C32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386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BEE4BD-3348-4117-B6B9-0BECC7AE87EB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83C60E-7BB7-4A1E-B85D-666D4B0DD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689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D76A-D432-4240-AFC7-55825D757297}" type="datetime1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308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ABED2-2121-4873-9F19-A95842714A71}" type="datetime1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06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E25FE-234F-4DAC-A9F7-D5F39ECED1DB}" type="datetime1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92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1D311-BF41-46F9-89AC-0CD2E062ACC8}" type="datetime1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007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4AFB-3733-430F-B048-99080FDE6BC7}" type="datetime1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530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5B6BE-7136-4C1A-ACFE-944DD0D93C31}" type="datetime1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58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EE0E3-3410-4183-BD7B-2C9E54FB2479}" type="datetime1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13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1E59-E905-46AD-8B7C-A7D080BC90A6}" type="datetime1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81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C9D4B-BABF-4EF5-AFF7-7CD39B831705}" type="datetime1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88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ADB4D-043C-442E-999C-9B26B83F6604}" type="datetime1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30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BEAFE-4A9B-46F8-A98D-58DC6137F9F5}" type="datetime1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05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>
            <a:extLst>
              <a:ext uri="{FF2B5EF4-FFF2-40B4-BE49-F238E27FC236}">
                <a16:creationId xmlns:a16="http://schemas.microsoft.com/office/drawing/2014/main" id="{BA63BBE0-E6AC-FF46-84EF-6B9B6A3B31F5}"/>
              </a:ext>
            </a:extLst>
          </p:cNvPr>
          <p:cNvSpPr/>
          <p:nvPr userDrawn="1"/>
        </p:nvSpPr>
        <p:spPr>
          <a:xfrm rot="10800000">
            <a:off x="-12700" y="-25835"/>
            <a:ext cx="12217400" cy="5605714"/>
          </a:xfrm>
          <a:custGeom>
            <a:avLst/>
            <a:gdLst>
              <a:gd name="connsiteX0" fmla="*/ 0 w 12192000"/>
              <a:gd name="connsiteY0" fmla="*/ 0 h 2341814"/>
              <a:gd name="connsiteX1" fmla="*/ 12192000 w 12192000"/>
              <a:gd name="connsiteY1" fmla="*/ 0 h 2341814"/>
              <a:gd name="connsiteX2" fmla="*/ 12192000 w 12192000"/>
              <a:gd name="connsiteY2" fmla="*/ 2341814 h 2341814"/>
              <a:gd name="connsiteX3" fmla="*/ 0 w 12192000"/>
              <a:gd name="connsiteY3" fmla="*/ 2341814 h 2341814"/>
              <a:gd name="connsiteX4" fmla="*/ 0 w 12192000"/>
              <a:gd name="connsiteY4" fmla="*/ 0 h 2341814"/>
              <a:gd name="connsiteX0" fmla="*/ 35169 w 12192000"/>
              <a:gd name="connsiteY0" fmla="*/ 1746739 h 2341814"/>
              <a:gd name="connsiteX1" fmla="*/ 12192000 w 12192000"/>
              <a:gd name="connsiteY1" fmla="*/ 0 h 2341814"/>
              <a:gd name="connsiteX2" fmla="*/ 12192000 w 12192000"/>
              <a:gd name="connsiteY2" fmla="*/ 2341814 h 2341814"/>
              <a:gd name="connsiteX3" fmla="*/ 0 w 12192000"/>
              <a:gd name="connsiteY3" fmla="*/ 2341814 h 2341814"/>
              <a:gd name="connsiteX4" fmla="*/ 35169 w 12192000"/>
              <a:gd name="connsiteY4" fmla="*/ 1746739 h 2341814"/>
              <a:gd name="connsiteX0" fmla="*/ 11723 w 12192000"/>
              <a:gd name="connsiteY0" fmla="*/ 1066801 h 2341814"/>
              <a:gd name="connsiteX1" fmla="*/ 12192000 w 12192000"/>
              <a:gd name="connsiteY1" fmla="*/ 0 h 2341814"/>
              <a:gd name="connsiteX2" fmla="*/ 12192000 w 12192000"/>
              <a:gd name="connsiteY2" fmla="*/ 2341814 h 2341814"/>
              <a:gd name="connsiteX3" fmla="*/ 0 w 12192000"/>
              <a:gd name="connsiteY3" fmla="*/ 2341814 h 2341814"/>
              <a:gd name="connsiteX4" fmla="*/ 11723 w 12192000"/>
              <a:gd name="connsiteY4" fmla="*/ 1066801 h 2341814"/>
              <a:gd name="connsiteX0" fmla="*/ 0 w 12192000"/>
              <a:gd name="connsiteY0" fmla="*/ 1078524 h 2341814"/>
              <a:gd name="connsiteX1" fmla="*/ 12192000 w 12192000"/>
              <a:gd name="connsiteY1" fmla="*/ 0 h 2341814"/>
              <a:gd name="connsiteX2" fmla="*/ 12192000 w 12192000"/>
              <a:gd name="connsiteY2" fmla="*/ 2341814 h 2341814"/>
              <a:gd name="connsiteX3" fmla="*/ 0 w 12192000"/>
              <a:gd name="connsiteY3" fmla="*/ 2341814 h 2341814"/>
              <a:gd name="connsiteX4" fmla="*/ 0 w 12192000"/>
              <a:gd name="connsiteY4" fmla="*/ 1078524 h 2341814"/>
              <a:gd name="connsiteX0" fmla="*/ 0 w 12192000"/>
              <a:gd name="connsiteY0" fmla="*/ 1060236 h 2341814"/>
              <a:gd name="connsiteX1" fmla="*/ 12192000 w 12192000"/>
              <a:gd name="connsiteY1" fmla="*/ 0 h 2341814"/>
              <a:gd name="connsiteX2" fmla="*/ 12192000 w 12192000"/>
              <a:gd name="connsiteY2" fmla="*/ 2341814 h 2341814"/>
              <a:gd name="connsiteX3" fmla="*/ 0 w 12192000"/>
              <a:gd name="connsiteY3" fmla="*/ 2341814 h 2341814"/>
              <a:gd name="connsiteX4" fmla="*/ 0 w 12192000"/>
              <a:gd name="connsiteY4" fmla="*/ 1060236 h 2341814"/>
              <a:gd name="connsiteX0" fmla="*/ 0 w 12204700"/>
              <a:gd name="connsiteY0" fmla="*/ 1060236 h 5605714"/>
              <a:gd name="connsiteX1" fmla="*/ 12192000 w 12204700"/>
              <a:gd name="connsiteY1" fmla="*/ 0 h 5605714"/>
              <a:gd name="connsiteX2" fmla="*/ 12204700 w 12204700"/>
              <a:gd name="connsiteY2" fmla="*/ 5605714 h 5605714"/>
              <a:gd name="connsiteX3" fmla="*/ 0 w 12204700"/>
              <a:gd name="connsiteY3" fmla="*/ 2341814 h 5605714"/>
              <a:gd name="connsiteX4" fmla="*/ 0 w 12204700"/>
              <a:gd name="connsiteY4" fmla="*/ 1060236 h 5605714"/>
              <a:gd name="connsiteX0" fmla="*/ 12700 w 12217400"/>
              <a:gd name="connsiteY0" fmla="*/ 1060236 h 5605714"/>
              <a:gd name="connsiteX1" fmla="*/ 12204700 w 12217400"/>
              <a:gd name="connsiteY1" fmla="*/ 0 h 5605714"/>
              <a:gd name="connsiteX2" fmla="*/ 12217400 w 12217400"/>
              <a:gd name="connsiteY2" fmla="*/ 5605714 h 5605714"/>
              <a:gd name="connsiteX3" fmla="*/ 0 w 12217400"/>
              <a:gd name="connsiteY3" fmla="*/ 5605714 h 5605714"/>
              <a:gd name="connsiteX4" fmla="*/ 12700 w 12217400"/>
              <a:gd name="connsiteY4" fmla="*/ 1060236 h 5605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7400" h="5605714">
                <a:moveTo>
                  <a:pt x="12700" y="1060236"/>
                </a:moveTo>
                <a:lnTo>
                  <a:pt x="12204700" y="0"/>
                </a:lnTo>
                <a:cubicBezTo>
                  <a:pt x="12208933" y="1868571"/>
                  <a:pt x="12213167" y="3737143"/>
                  <a:pt x="12217400" y="5605714"/>
                </a:cubicBezTo>
                <a:lnTo>
                  <a:pt x="0" y="5605714"/>
                </a:lnTo>
                <a:cubicBezTo>
                  <a:pt x="4233" y="4090555"/>
                  <a:pt x="8467" y="2575395"/>
                  <a:pt x="12700" y="1060236"/>
                </a:cubicBezTo>
                <a:close/>
              </a:path>
            </a:pathLst>
          </a:custGeom>
          <a:solidFill>
            <a:srgbClr val="009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1ED16B-E150-2345-A958-C57EEF15B8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10802" y="5309086"/>
            <a:ext cx="3643600" cy="1056310"/>
          </a:xfrm>
          <a:prstGeom prst="rect">
            <a:avLst/>
          </a:prstGeom>
          <a:noFill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BD4A8DCE-B201-3940-9834-07E260718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746092"/>
            <a:ext cx="10185400" cy="2387600"/>
          </a:xfrm>
          <a:prstGeom prst="rect">
            <a:avLst/>
          </a:prstGeo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5C11B710-CBC4-2847-9FBF-BD14F19C2B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200" y="3345788"/>
            <a:ext cx="10185400" cy="116930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Whitney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31473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70A41-E445-47AB-9E6B-5CEB0EA0843A}" type="datetime1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Jay 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2B876-4B66-412C-A9DE-01BF581FD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86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c-home/HO_2025_SummerDriving-distance-for-Prospect-Table" TargetMode="External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ymouthrock.sharepoint.com/sites/Home-DataScience/Shared%20Documents/Forms/AllItems.aspx?id=%2Fsites%2FHome%2DDataScience%2FShared%20Documents%2FProjects%2FAdHoc%2F2025InternSummer%20Driving%20distance%20for%20Prospect%20Table&amp;p=true&amp;ga=1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E7D39-EF11-0344-8055-648D193803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Summer Intern: </a:t>
            </a:r>
            <a:r>
              <a:rPr lang="en-US" sz="4800" dirty="0">
                <a:effectLst/>
                <a:latin typeface="Calibri Light" panose="020F0302020204030204" pitchFamily="34" charset="0"/>
              </a:rPr>
              <a:t>Driving Distance for Prospect Table</a:t>
            </a:r>
            <a:br>
              <a:rPr lang="en-US" sz="4800" dirty="0">
                <a:effectLst/>
                <a:latin typeface="Calibri Light" panose="020F0302020204030204" pitchFamily="34" charset="0"/>
              </a:rPr>
            </a:b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C5D53-4122-7346-B54E-8A61CEBF5D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Wei Zhang</a:t>
            </a:r>
          </a:p>
        </p:txBody>
      </p:sp>
    </p:spTree>
    <p:extLst>
      <p:ext uri="{BB962C8B-B14F-4D97-AF65-F5344CB8AC3E}">
        <p14:creationId xmlns:p14="http://schemas.microsoft.com/office/powerpoint/2010/main" val="2774411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/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2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2698" y="505538"/>
            <a:ext cx="5225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Outline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1332698" y="1579589"/>
            <a:ext cx="6150279" cy="2934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1. Background</a:t>
            </a:r>
          </a:p>
          <a:p>
            <a:pPr algn="l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2. Objectives</a:t>
            </a:r>
          </a:p>
          <a:p>
            <a:pPr algn="l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3. Results and Evaluation</a:t>
            </a:r>
          </a:p>
          <a:p>
            <a:pPr algn="l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4. 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327008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4C802-60AD-50B9-C9C9-6769AB601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788BAB0-8D3B-1D0E-2BD4-3DE520934BFE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8855A88-477D-BE19-59F8-6C6072380EAE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BD41213-3139-359C-1C0F-FC3439D6C5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91206E-8A19-C384-BCAA-C4027BDCD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3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CB06D34A-8120-8A4C-FCCA-B70FD3351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6A4125-2DDE-172B-DB04-D30EAC2E4F80}"/>
              </a:ext>
            </a:extLst>
          </p:cNvPr>
          <p:cNvSpPr txBox="1"/>
          <p:nvPr/>
        </p:nvSpPr>
        <p:spPr>
          <a:xfrm>
            <a:off x="0" y="9746"/>
            <a:ext cx="1234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5">
                    <a:lumMod val="75000"/>
                  </a:schemeClr>
                </a:solidFill>
              </a:rPr>
              <a:t>Business needs driving distance to fire station for PPC</a:t>
            </a:r>
            <a:endParaRPr lang="en-US" sz="3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05B0B4-7B5B-0C53-53D6-15C1E7C74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560" y="717633"/>
            <a:ext cx="4622567" cy="40829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B5F262-6CD3-14B0-3A3B-C5F335353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904" y="586409"/>
            <a:ext cx="3750104" cy="4338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C7E793-1BF5-626F-B3DD-AE496B1EF77B}"/>
              </a:ext>
            </a:extLst>
          </p:cNvPr>
          <p:cNvSpPr txBox="1"/>
          <p:nvPr/>
        </p:nvSpPr>
        <p:spPr>
          <a:xfrm>
            <a:off x="0" y="4925372"/>
            <a:ext cx="12192000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Driving time and distance to the nearest fire station indicate how quickly a fire can be controlled, which is fundamental to insurance risk management.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highlight>
                  <a:srgbClr val="FFFF00"/>
                </a:highlight>
                <a:cs typeface="Arial" panose="020B0604020202020204" pitchFamily="34" charset="0"/>
              </a:rPr>
              <a:t>Previous project suggests </a:t>
            </a:r>
            <a:r>
              <a:rPr lang="en-US" sz="2400" b="1" dirty="0">
                <a:highlight>
                  <a:srgbClr val="FFFF00"/>
                </a:highlight>
              </a:rPr>
              <a:t>processing our 18 million properties would require ~ 2,500 hours.</a:t>
            </a:r>
            <a:endParaRPr lang="en-US" sz="2400" b="1" dirty="0">
              <a:highlight>
                <a:srgbClr val="FFFF00"/>
              </a:highlight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937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DE3AE-F647-B359-A27A-F0ADF06CF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BEE5E3-CE64-36C3-29E1-8B994833E1C3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9074BB7-4073-24C4-8840-F2667A1A09B4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9596354-6BD6-180C-E503-8E6F341919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84FBB4-89B0-3025-F7B0-E55C3B2E8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4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3401B8BC-3392-F698-C087-245F81DAE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3E0C15-C779-10F9-F502-6DF4351825B6}"/>
              </a:ext>
            </a:extLst>
          </p:cNvPr>
          <p:cNvSpPr txBox="1"/>
          <p:nvPr/>
        </p:nvSpPr>
        <p:spPr>
          <a:xfrm>
            <a:off x="0" y="9746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Objective: get driving time and distance to fire stations for 18 MM properties within a reasonable time.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365EB27-668A-0FB2-EF0B-D29C252E2E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1642112"/>
              </p:ext>
            </p:extLst>
          </p:nvPr>
        </p:nvGraphicFramePr>
        <p:xfrm>
          <a:off x="41658" y="2195844"/>
          <a:ext cx="12150342" cy="4101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4F30D33-3702-FEF6-2F94-BCE49ADBB92C}"/>
              </a:ext>
            </a:extLst>
          </p:cNvPr>
          <p:cNvSpPr txBox="1"/>
          <p:nvPr/>
        </p:nvSpPr>
        <p:spPr>
          <a:xfrm>
            <a:off x="0" y="1323641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400" dirty="0"/>
              <a:t>We use the OpenStreetMap Table API to estimate driving time and distance from 18 million properties to their nearest fire stations. Our analysis focuses on addressing the following key questions:</a:t>
            </a:r>
            <a:endParaRPr lang="en-US" sz="24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33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18946-03DC-ABC8-9246-0C7ECF8FB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C5043BF-74BE-1854-B841-22CED3ADF751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ED67159-D872-05C6-71DD-330F517A1202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AEBAE92-8DCD-D513-402C-D8401799FD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5DD74A-6120-E95E-F175-8FB861B4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5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624048DE-FB5E-4525-58CD-ADA9322D3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B7E943-1EC1-EA4A-4C6F-FB377128E6DA}"/>
              </a:ext>
            </a:extLst>
          </p:cNvPr>
          <p:cNvSpPr txBox="1"/>
          <p:nvPr/>
        </p:nvSpPr>
        <p:spPr>
          <a:xfrm>
            <a:off x="0" y="0"/>
            <a:ext cx="12150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</a:rPr>
              <a:t>Four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 concurrent pipeline jobs can further reduce to ~1 week</a:t>
            </a:r>
            <a:endParaRPr lang="en-US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079D44F8-6A86-E8AB-E48B-74D0C742BC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9260730"/>
              </p:ext>
            </p:extLst>
          </p:nvPr>
        </p:nvGraphicFramePr>
        <p:xfrm>
          <a:off x="41658" y="2368490"/>
          <a:ext cx="12150342" cy="4101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39843E9-95EE-EBF9-752A-28FE5126A8B1}"/>
              </a:ext>
            </a:extLst>
          </p:cNvPr>
          <p:cNvSpPr txBox="1"/>
          <p:nvPr/>
        </p:nvSpPr>
        <p:spPr>
          <a:xfrm>
            <a:off x="41658" y="1115479"/>
            <a:ext cx="117220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Based on our observations, a single IP address can support up to 4 concurrent jobs. SageMaker pipelines won’t expire until the job finishes.</a:t>
            </a:r>
          </a:p>
          <a:p>
            <a:r>
              <a:rPr lang="en-US" sz="2400" dirty="0">
                <a:highlight>
                  <a:srgbClr val="FFFF00"/>
                </a:highlight>
              </a:rPr>
              <a:t>By running 4 concurrent pipelines, the actual wall-clock time is reduced by a factor of 22, and the total computational time by a factor of 10, compared to the previous project.</a:t>
            </a:r>
          </a:p>
        </p:txBody>
      </p:sp>
    </p:spTree>
    <p:extLst>
      <p:ext uri="{BB962C8B-B14F-4D97-AF65-F5344CB8AC3E}">
        <p14:creationId xmlns:p14="http://schemas.microsoft.com/office/powerpoint/2010/main" val="4091987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62F96-F986-0BF5-E90B-54C74B47B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1D42C85-40D6-C65C-837B-07C373C1C63F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F64C352-B584-7C15-6B67-04AAD5283FAF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96B9083-CC22-D292-01B7-B81FF7F25F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90FA1C-9A17-E37C-D522-8E3CD470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6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5B667785-3658-EF43-B476-F0C5F149C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F613B0-74E8-CBB1-9BA6-0B972F3DBFE2}"/>
              </a:ext>
            </a:extLst>
          </p:cNvPr>
          <p:cNvSpPr txBox="1"/>
          <p:nvPr/>
        </p:nvSpPr>
        <p:spPr>
          <a:xfrm>
            <a:off x="0" y="9746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Project 2, Objective: get driving distance and time to fire stations for 18 MM properties within a reasonable time.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648532-9456-B885-2CA3-186C6F777A08}"/>
              </a:ext>
            </a:extLst>
          </p:cNvPr>
          <p:cNvSpPr txBox="1"/>
          <p:nvPr/>
        </p:nvSpPr>
        <p:spPr>
          <a:xfrm>
            <a:off x="256758" y="4133077"/>
            <a:ext cx="11400185" cy="1633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Previous project suggests </a:t>
            </a:r>
            <a:r>
              <a:rPr lang="en-US" sz="2400" dirty="0"/>
              <a:t>processing our 18 million properties would require ~ 2,500 hours (~3.5 months).</a:t>
            </a:r>
            <a:endParaRPr lang="en-US" sz="2400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cs typeface="Arial" panose="020B0604020202020204" pitchFamily="34" charset="0"/>
              </a:rPr>
              <a:t>Table API </a:t>
            </a:r>
            <a:r>
              <a:rPr lang="en-US" sz="2400" dirty="0"/>
              <a:t>submission and </a:t>
            </a:r>
            <a:r>
              <a:rPr lang="en-US" sz="2400" b="1" dirty="0"/>
              <a:t>4 concurrent pipeline jobs </a:t>
            </a:r>
            <a:r>
              <a:rPr lang="en-US" sz="2400" dirty="0"/>
              <a:t>can reduce the running time to </a:t>
            </a:r>
            <a:r>
              <a:rPr lang="en-US" sz="2400" b="1" dirty="0"/>
              <a:t>~ 1 week</a:t>
            </a:r>
            <a:r>
              <a:rPr lang="en-US" sz="2400" dirty="0"/>
              <a:t>.</a:t>
            </a:r>
            <a:endParaRPr lang="en-US" sz="2400" dirty="0">
              <a:cs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882180-22AE-AB7A-2864-532918F2995B}"/>
              </a:ext>
            </a:extLst>
          </p:cNvPr>
          <p:cNvGraphicFramePr>
            <a:graphicFrameLocks noGrp="1"/>
          </p:cNvGraphicFramePr>
          <p:nvPr/>
        </p:nvGraphicFramePr>
        <p:xfrm>
          <a:off x="256758" y="1676188"/>
          <a:ext cx="11400185" cy="2114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2938">
                  <a:extLst>
                    <a:ext uri="{9D8B030D-6E8A-4147-A177-3AD203B41FA5}">
                      <a16:colId xmlns:a16="http://schemas.microsoft.com/office/drawing/2014/main" val="3925810978"/>
                    </a:ext>
                  </a:extLst>
                </a:gridCol>
                <a:gridCol w="1877903">
                  <a:extLst>
                    <a:ext uri="{9D8B030D-6E8A-4147-A177-3AD203B41FA5}">
                      <a16:colId xmlns:a16="http://schemas.microsoft.com/office/drawing/2014/main" val="1250026412"/>
                    </a:ext>
                  </a:extLst>
                </a:gridCol>
                <a:gridCol w="1272209">
                  <a:extLst>
                    <a:ext uri="{9D8B030D-6E8A-4147-A177-3AD203B41FA5}">
                      <a16:colId xmlns:a16="http://schemas.microsoft.com/office/drawing/2014/main" val="1262421708"/>
                    </a:ext>
                  </a:extLst>
                </a:gridCol>
                <a:gridCol w="1418702">
                  <a:extLst>
                    <a:ext uri="{9D8B030D-6E8A-4147-A177-3AD203B41FA5}">
                      <a16:colId xmlns:a16="http://schemas.microsoft.com/office/drawing/2014/main" val="2487029516"/>
                    </a:ext>
                  </a:extLst>
                </a:gridCol>
                <a:gridCol w="1522938">
                  <a:extLst>
                    <a:ext uri="{9D8B030D-6E8A-4147-A177-3AD203B41FA5}">
                      <a16:colId xmlns:a16="http://schemas.microsoft.com/office/drawing/2014/main" val="1267008730"/>
                    </a:ext>
                  </a:extLst>
                </a:gridCol>
                <a:gridCol w="1522938">
                  <a:extLst>
                    <a:ext uri="{9D8B030D-6E8A-4147-A177-3AD203B41FA5}">
                      <a16:colId xmlns:a16="http://schemas.microsoft.com/office/drawing/2014/main" val="1548693383"/>
                    </a:ext>
                  </a:extLst>
                </a:gridCol>
                <a:gridCol w="2262557">
                  <a:extLst>
                    <a:ext uri="{9D8B030D-6E8A-4147-A177-3AD203B41FA5}">
                      <a16:colId xmlns:a16="http://schemas.microsoft.com/office/drawing/2014/main" val="1553410819"/>
                    </a:ext>
                  </a:extLst>
                </a:gridCol>
              </a:tblGrid>
              <a:tr h="55968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0000"/>
                          </a:highlight>
                        </a:rPr>
                        <a:t>Route API</a:t>
                      </a:r>
                    </a:p>
                    <a:p>
                      <a:r>
                        <a:rPr lang="en-US" dirty="0">
                          <a:highlight>
                            <a:srgbClr val="FF0000"/>
                          </a:highlight>
                        </a:rPr>
                        <a:t>(1x1, previously used)</a:t>
                      </a:r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Route with 3 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 API</a:t>
                      </a:r>
                    </a:p>
                    <a:p>
                      <a:r>
                        <a:rPr lang="en-US" dirty="0"/>
                        <a:t>(100x100)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 with </a:t>
                      </a:r>
                      <a:r>
                        <a:rPr lang="en-US" dirty="0" err="1"/>
                        <a:t>Asyncio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 with 3 threads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Table with 3 processors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439049"/>
                  </a:ext>
                </a:extLst>
              </a:tr>
              <a:tr h="559685"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99.259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99.259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0.614</a:t>
                      </a:r>
                      <a:endParaRPr lang="en-US" b="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534597"/>
                  </a:ext>
                </a:extLst>
              </a:tr>
              <a:tr h="559685"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999.399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999.257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90.649</a:t>
                      </a:r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Error, Too many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98.926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91.987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38760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C61BCDB-9275-BF87-497E-08122F3B3A4B}"/>
              </a:ext>
            </a:extLst>
          </p:cNvPr>
          <p:cNvSpPr txBox="1"/>
          <p:nvPr/>
        </p:nvSpPr>
        <p:spPr>
          <a:xfrm>
            <a:off x="3711081" y="1058411"/>
            <a:ext cx="2002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FFFF"/>
                </a:highlight>
              </a:rPr>
              <a:t>Concurrent</a:t>
            </a:r>
          </a:p>
          <a:p>
            <a:r>
              <a:rPr lang="en-US" dirty="0">
                <a:highlight>
                  <a:srgbClr val="00FFFF"/>
                </a:highlight>
              </a:rPr>
              <a:t> route task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747804-3206-60F6-1197-4726D61E8DD9}"/>
              </a:ext>
            </a:extLst>
          </p:cNvPr>
          <p:cNvSpPr txBox="1"/>
          <p:nvPr/>
        </p:nvSpPr>
        <p:spPr>
          <a:xfrm>
            <a:off x="7628797" y="1217073"/>
            <a:ext cx="5617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FFFF"/>
                </a:highlight>
              </a:rPr>
              <a:t>Concurrent table task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4C95EE-A6FF-A470-8621-AC0C2EB787ED}"/>
              </a:ext>
            </a:extLst>
          </p:cNvPr>
          <p:cNvSpPr/>
          <p:nvPr/>
        </p:nvSpPr>
        <p:spPr>
          <a:xfrm>
            <a:off x="3637721" y="993914"/>
            <a:ext cx="1292087" cy="2796440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73166D-A9D3-D4D8-9687-5AF7C88848DF}"/>
              </a:ext>
            </a:extLst>
          </p:cNvPr>
          <p:cNvSpPr/>
          <p:nvPr/>
        </p:nvSpPr>
        <p:spPr>
          <a:xfrm>
            <a:off x="6293835" y="1127290"/>
            <a:ext cx="5363108" cy="2663063"/>
          </a:xfrm>
          <a:prstGeom prst="rect">
            <a:avLst/>
          </a:prstGeom>
          <a:noFill/>
          <a:ln w="412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745EE8-FDB6-563B-3240-1A44D950B8B7}"/>
              </a:ext>
            </a:extLst>
          </p:cNvPr>
          <p:cNvSpPr txBox="1"/>
          <p:nvPr/>
        </p:nvSpPr>
        <p:spPr>
          <a:xfrm>
            <a:off x="854765" y="1798983"/>
            <a:ext cx="1053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(s)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C7405E-1F06-810F-59C2-36AF0FD0F9DD}"/>
              </a:ext>
            </a:extLst>
          </p:cNvPr>
          <p:cNvSpPr txBox="1"/>
          <p:nvPr/>
        </p:nvSpPr>
        <p:spPr>
          <a:xfrm>
            <a:off x="208721" y="2219595"/>
            <a:ext cx="1292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 (#)</a:t>
            </a:r>
          </a:p>
        </p:txBody>
      </p:sp>
    </p:spTree>
    <p:extLst>
      <p:ext uri="{BB962C8B-B14F-4D97-AF65-F5344CB8AC3E}">
        <p14:creationId xmlns:p14="http://schemas.microsoft.com/office/powerpoint/2010/main" val="4079987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88B4A-71E2-4288-9B3D-61C51FCFD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EF77826-BAA4-523A-07CF-3953CC5CB93C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BD4B1D5-384E-9484-F6D9-846DFE9E44DE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4A4A7B5-98B6-2BDC-6595-3ACDAE1C8A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9C372F-8EF6-86FE-E0FE-A348B4B1F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7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DC3E962A-C441-2A7F-F3FE-5FB92B2ED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1B0DE9-677D-24F1-D5E7-981C573C7018}"/>
              </a:ext>
            </a:extLst>
          </p:cNvPr>
          <p:cNvSpPr txBox="1"/>
          <p:nvPr/>
        </p:nvSpPr>
        <p:spPr>
          <a:xfrm>
            <a:off x="-1" y="9746"/>
            <a:ext cx="10402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Results: properties to the nearest fire station</a:t>
            </a:r>
            <a:endParaRPr lang="en-US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D31E17-07FF-3A09-870B-E14E00DA22AF}"/>
              </a:ext>
            </a:extLst>
          </p:cNvPr>
          <p:cNvSpPr txBox="1"/>
          <p:nvPr/>
        </p:nvSpPr>
        <p:spPr>
          <a:xfrm>
            <a:off x="666438" y="3880965"/>
            <a:ext cx="108331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All 18 MM data are finished in 7 days.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From properties to the nearest fire stations in MA: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Driving distance: 1.38 mile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Driving time: 3.58 min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B56139-C47A-CE78-406B-5B7EBC9F8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38" y="1004931"/>
            <a:ext cx="11409544" cy="256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935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62F96-F986-0BF5-E90B-54C74B47B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1D42C85-40D6-C65C-837B-07C373C1C63F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F64C352-B584-7C15-6B67-04AAD5283FAF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96B9083-CC22-D292-01B7-B81FF7F25F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90FA1C-9A17-E37C-D522-8E3CD470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8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5B667785-3658-EF43-B476-F0C5F149C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AF0BC1-3EB7-0230-69C4-E9A4EFABFAD0}"/>
              </a:ext>
            </a:extLst>
          </p:cNvPr>
          <p:cNvSpPr txBox="1"/>
          <p:nvPr/>
        </p:nvSpPr>
        <p:spPr>
          <a:xfrm>
            <a:off x="-1" y="9746"/>
            <a:ext cx="10402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Results: estimation example from OpenStreetMap</a:t>
            </a:r>
            <a:endParaRPr lang="en-US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96634D8-679E-85F8-7A30-5269F0C8C9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304709"/>
              </p:ext>
            </p:extLst>
          </p:nvPr>
        </p:nvGraphicFramePr>
        <p:xfrm>
          <a:off x="1660387" y="885764"/>
          <a:ext cx="4428435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145">
                  <a:extLst>
                    <a:ext uri="{9D8B030D-6E8A-4147-A177-3AD203B41FA5}">
                      <a16:colId xmlns:a16="http://schemas.microsoft.com/office/drawing/2014/main" val="3193438071"/>
                    </a:ext>
                  </a:extLst>
                </a:gridCol>
                <a:gridCol w="1476145">
                  <a:extLst>
                    <a:ext uri="{9D8B030D-6E8A-4147-A177-3AD203B41FA5}">
                      <a16:colId xmlns:a16="http://schemas.microsoft.com/office/drawing/2014/main" val="2907715729"/>
                    </a:ext>
                  </a:extLst>
                </a:gridCol>
                <a:gridCol w="1476145">
                  <a:extLst>
                    <a:ext uri="{9D8B030D-6E8A-4147-A177-3AD203B41FA5}">
                      <a16:colId xmlns:a16="http://schemas.microsoft.com/office/drawing/2014/main" val="664455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Longitude (deg)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Latitude (deg)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173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-70.9358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42.4751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791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Fire station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-70.934619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42.479782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0405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F236CA49-27EE-EFAA-4A6C-FDE45526B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824" y="885764"/>
            <a:ext cx="4020111" cy="14956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568B96-CC3B-1BBA-9309-002DABE7D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4548" y="2427223"/>
            <a:ext cx="4020111" cy="361884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583B55A-80DF-FECC-2899-5410B0EE0E14}"/>
              </a:ext>
            </a:extLst>
          </p:cNvPr>
          <p:cNvSpPr txBox="1"/>
          <p:nvPr/>
        </p:nvSpPr>
        <p:spPr>
          <a:xfrm>
            <a:off x="6483626" y="5653395"/>
            <a:ext cx="5920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Estimation: </a:t>
            </a:r>
            <a:r>
              <a:rPr lang="en-US" dirty="0" err="1">
                <a:highlight>
                  <a:srgbClr val="FFFF00"/>
                </a:highlight>
              </a:rPr>
              <a:t>Dist</a:t>
            </a:r>
            <a:r>
              <a:rPr lang="en-US" dirty="0">
                <a:highlight>
                  <a:srgbClr val="FFFF00"/>
                </a:highlight>
              </a:rPr>
              <a:t>: 0.5 mile, time: 0.02 hour (1.2 min)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2C84B59-1EFA-FE93-0C37-DF8354FBE5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8822" y="2497211"/>
            <a:ext cx="3943900" cy="311511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5E66CBF-B8F5-F91B-4D64-5E6CF8822480}"/>
              </a:ext>
            </a:extLst>
          </p:cNvPr>
          <p:cNvSpPr/>
          <p:nvPr/>
        </p:nvSpPr>
        <p:spPr>
          <a:xfrm>
            <a:off x="5976257" y="3015343"/>
            <a:ext cx="2634343" cy="582247"/>
          </a:xfrm>
          <a:prstGeom prst="ellipse">
            <a:avLst/>
          </a:prstGeom>
          <a:solidFill>
            <a:srgbClr val="FFFF00">
              <a:alpha val="34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752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37893-5269-6051-10E7-D80FEF642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23588B3-DF58-9794-7D97-7E3838DBEADE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A4B9025-4157-E5A4-163A-486D72645BBC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8854757-60A3-CA32-67B0-BC4F2344BF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0705BC-56BB-EE58-E9ED-CDA797AB9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9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35B525AE-F75D-0D70-6EB0-3C9CD2EBA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2CF8C6-BD9A-FBC7-DEEA-E2828A286A1D}"/>
              </a:ext>
            </a:extLst>
          </p:cNvPr>
          <p:cNvSpPr txBox="1"/>
          <p:nvPr/>
        </p:nvSpPr>
        <p:spPr>
          <a:xfrm>
            <a:off x="-1" y="9746"/>
            <a:ext cx="10402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Results: verification against Google Map</a:t>
            </a:r>
            <a:endParaRPr lang="en-US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52097C-B91F-D3D1-8BC9-7BCD3955E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27" y="687100"/>
            <a:ext cx="3564868" cy="32090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AC082A-1161-2B89-BBFE-4BFA6AC83F52}"/>
              </a:ext>
            </a:extLst>
          </p:cNvPr>
          <p:cNvSpPr txBox="1"/>
          <p:nvPr/>
        </p:nvSpPr>
        <p:spPr>
          <a:xfrm>
            <a:off x="1344100" y="4250296"/>
            <a:ext cx="51993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OpenSteetMap</a:t>
            </a:r>
            <a:r>
              <a:rPr lang="en-US" sz="2000" dirty="0"/>
              <a:t> Estimation: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Dist</a:t>
            </a:r>
            <a:r>
              <a:rPr lang="en-US" sz="2000" dirty="0"/>
              <a:t>: 0.5 mile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Time: 1.2 min</a:t>
            </a:r>
          </a:p>
          <a:p>
            <a:r>
              <a:rPr lang="en-US" sz="2000" dirty="0"/>
              <a:t>Google Map driving time: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Dist</a:t>
            </a:r>
            <a:r>
              <a:rPr lang="en-US" sz="2000" dirty="0"/>
              <a:t>: 0.5 mile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Time: 2 min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37203C-0418-1411-5DD7-C4DB83BCA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390" y="656077"/>
            <a:ext cx="4509183" cy="50510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D7E54A9-62CD-F662-CF2B-629435791D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7084" y="656077"/>
            <a:ext cx="3417831" cy="320904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E4AE9879-6E4F-B455-F4AC-D449D36E62BD}"/>
              </a:ext>
            </a:extLst>
          </p:cNvPr>
          <p:cNvSpPr/>
          <p:nvPr/>
        </p:nvSpPr>
        <p:spPr>
          <a:xfrm>
            <a:off x="1100452" y="4637545"/>
            <a:ext cx="2634343" cy="582247"/>
          </a:xfrm>
          <a:prstGeom prst="ellipse">
            <a:avLst/>
          </a:prstGeom>
          <a:solidFill>
            <a:srgbClr val="FFFF00">
              <a:alpha val="34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70075C-4FD1-8A64-5A76-AB2CFF05C528}"/>
              </a:ext>
            </a:extLst>
          </p:cNvPr>
          <p:cNvSpPr/>
          <p:nvPr/>
        </p:nvSpPr>
        <p:spPr>
          <a:xfrm>
            <a:off x="1208903" y="5497324"/>
            <a:ext cx="2634343" cy="582247"/>
          </a:xfrm>
          <a:prstGeom prst="ellipse">
            <a:avLst/>
          </a:prstGeom>
          <a:solidFill>
            <a:srgbClr val="FFFF00">
              <a:alpha val="34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837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9EFB9-0757-E486-9FAF-BB47CE793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D7CE56E-7E4F-5053-7A9D-44595FB7CE0F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A4D974C-E23A-70DB-25C6-5DCF29730555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871530C-2FB1-3368-90EC-B6E25B8100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A056BB-27C8-F953-C674-F33BA10F2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10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EB081FD8-C3D0-14E2-47FA-3F004A7D0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B5DDAA-0C9A-74EC-BD45-1CEC9DD27F90}"/>
              </a:ext>
            </a:extLst>
          </p:cNvPr>
          <p:cNvSpPr txBox="1"/>
          <p:nvPr/>
        </p:nvSpPr>
        <p:spPr>
          <a:xfrm>
            <a:off x="-1" y="9746"/>
            <a:ext cx="10402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Results and code are ready!</a:t>
            </a:r>
            <a:endParaRPr lang="en-US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63684C6-F033-7F3F-9A8F-C99BDBEFDBB4}"/>
              </a:ext>
            </a:extLst>
          </p:cNvPr>
          <p:cNvSpPr txBox="1">
            <a:spLocks/>
          </p:cNvSpPr>
          <p:nvPr/>
        </p:nvSpPr>
        <p:spPr>
          <a:xfrm>
            <a:off x="251791" y="11696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Results of driving time and distance are in SharePoint, grouped by states:</a:t>
            </a:r>
          </a:p>
          <a:p>
            <a:pPr lvl="1" algn="l"/>
            <a:r>
              <a:rPr lang="en-US" dirty="0"/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Codes are available on GitHub</a:t>
            </a:r>
          </a:p>
          <a:p>
            <a:pPr lvl="1" algn="l"/>
            <a:r>
              <a:rPr lang="en-US" sz="2400" dirty="0" err="1">
                <a:hlinkClick r:id="rId3"/>
              </a:rPr>
              <a:t>prac</a:t>
            </a:r>
            <a:r>
              <a:rPr lang="en-US" sz="2400" dirty="0">
                <a:hlinkClick r:id="rId3"/>
              </a:rPr>
              <a:t>-home/HO_2025_SummerDriving-distance-for-Prospect-Table</a:t>
            </a:r>
            <a:endParaRPr lang="en-US" sz="2400" dirty="0"/>
          </a:p>
          <a:p>
            <a:pPr lvl="1" algn="l"/>
            <a:r>
              <a:rPr lang="en-US" sz="2400" dirty="0">
                <a:highlight>
                  <a:srgbClr val="FFFF00"/>
                </a:highlight>
              </a:rPr>
              <a:t>Ready for new 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8BCA2C-C61B-CB54-04EE-FF798250A2A6}"/>
              </a:ext>
            </a:extLst>
          </p:cNvPr>
          <p:cNvSpPr txBox="1"/>
          <p:nvPr/>
        </p:nvSpPr>
        <p:spPr>
          <a:xfrm>
            <a:off x="651012" y="1600057"/>
            <a:ext cx="97516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4"/>
              </a:rPr>
              <a:t>Home-</a:t>
            </a:r>
            <a:r>
              <a:rPr lang="en-US" sz="2400" dirty="0" err="1">
                <a:hlinkClick r:id="rId4"/>
              </a:rPr>
              <a:t>DataScience</a:t>
            </a:r>
            <a:r>
              <a:rPr lang="en-US" sz="2400" dirty="0">
                <a:hlinkClick r:id="rId4"/>
              </a:rPr>
              <a:t> - Documents - 2025InternSummer Driving distance for Prospect Table - All Documents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79356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4D79F-12D6-4DFC-6100-EEE445279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0A17CE9-DC9D-ABCA-13BA-FFF4D5E986B3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4895EA-BAAD-7D53-F10F-A6CBC0EAA025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CD88E58-5897-46BF-B17A-C666CB163F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C6A398-F3F2-C0ED-92D7-310C6CF98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11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7E7FB792-EAC9-C5C5-82AF-8513DC5E5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C52658-EDAB-C694-BE8A-B58B4324FCA2}"/>
              </a:ext>
            </a:extLst>
          </p:cNvPr>
          <p:cNvSpPr txBox="1"/>
          <p:nvPr/>
        </p:nvSpPr>
        <p:spPr>
          <a:xfrm>
            <a:off x="263039" y="226140"/>
            <a:ext cx="10381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B43F35-301E-88A6-1BBA-8709A78F795B}"/>
              </a:ext>
            </a:extLst>
          </p:cNvPr>
          <p:cNvSpPr txBox="1"/>
          <p:nvPr/>
        </p:nvSpPr>
        <p:spPr>
          <a:xfrm>
            <a:off x="263039" y="3186554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Future work</a:t>
            </a:r>
            <a:endParaRPr 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75475F-455A-2B24-5892-5D22ED37A652}"/>
              </a:ext>
            </a:extLst>
          </p:cNvPr>
          <p:cNvSpPr txBox="1"/>
          <p:nvPr/>
        </p:nvSpPr>
        <p:spPr>
          <a:xfrm>
            <a:off x="263039" y="1134667"/>
            <a:ext cx="11928961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actual wall-clock time is reduced by a factor of 22 (down to 7 days), and the total computational time by a factor of 10, compared to the previous project.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cs typeface="Arial" panose="020B0604020202020204" pitchFamily="34" charset="0"/>
              </a:rPr>
              <a:t>The estimated driving distances and times </a:t>
            </a:r>
            <a:r>
              <a:rPr lang="en-US" sz="2400">
                <a:cs typeface="Arial" panose="020B0604020202020204" pitchFamily="34" charset="0"/>
              </a:rPr>
              <a:t>seem aligned </a:t>
            </a:r>
            <a:r>
              <a:rPr lang="en-US" sz="2400" dirty="0">
                <a:cs typeface="Arial" panose="020B0604020202020204" pitchFamily="34" charset="0"/>
              </a:rPr>
              <a:t>with Google map results.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81DF31-4C25-0BF7-7C47-BBBBFA41FA57}"/>
              </a:ext>
            </a:extLst>
          </p:cNvPr>
          <p:cNvSpPr txBox="1"/>
          <p:nvPr/>
        </p:nvSpPr>
        <p:spPr>
          <a:xfrm>
            <a:off x="263039" y="4025432"/>
            <a:ext cx="11928961" cy="206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Multiple attempts have been made to deploy a local OpenStreetMap dataset, but the only feasible method requires installing Docker on the PC. This approach could bypass the IP blocking by the OpenStreetMap website.</a:t>
            </a:r>
          </a:p>
          <a:p>
            <a:pPr marL="342900" indent="-3429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Currently, properties and fire stations are grouped by state, meaning fire stations in neighboring states are not considered during distance estimation.</a:t>
            </a:r>
            <a:endParaRPr lang="en-US" sz="24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183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6FFF1-169A-487C-FA87-C3F05FE93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9D54AE0-84E2-559A-8CB9-6FE45AFA648B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AD51A42-4992-8860-FFB5-F5DB6C74406B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37DAE3D-8948-5D69-B9D4-73BAF88405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08833A0-06B9-2FEF-E4E7-764CC518E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3DDD884-E1E8-3251-27B5-03165A753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12</a:t>
            </a:fld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5B5516-64CE-1E9F-3639-79F1A4A3CD74}"/>
              </a:ext>
            </a:extLst>
          </p:cNvPr>
          <p:cNvSpPr txBox="1"/>
          <p:nvPr/>
        </p:nvSpPr>
        <p:spPr>
          <a:xfrm>
            <a:off x="2264787" y="2393900"/>
            <a:ext cx="73134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</a:rPr>
              <a:t>Finally, I’d like to thank everyone </a:t>
            </a:r>
          </a:p>
          <a:p>
            <a:pPr algn="ctr"/>
            <a:r>
              <a:rPr lang="en-US" sz="3600" b="1" dirty="0">
                <a:solidFill>
                  <a:schemeClr val="accent1"/>
                </a:solidFill>
              </a:rPr>
              <a:t>in the team and in the company, especially Shawn and Yi.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56C703-7DD6-32B0-2505-169C3F5D3EA2}"/>
              </a:ext>
            </a:extLst>
          </p:cNvPr>
          <p:cNvSpPr txBox="1"/>
          <p:nvPr/>
        </p:nvSpPr>
        <p:spPr>
          <a:xfrm>
            <a:off x="2264786" y="769010"/>
            <a:ext cx="73134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accent1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345593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/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Kefan Ping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13</a:t>
            </a:fld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64787" y="2846288"/>
            <a:ext cx="73134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575553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74799-84F4-713E-5B78-A8FC7EFF9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79E9B-2A42-B80E-4CA5-2792B51CD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388929-ECA9-2163-7033-2E09AAD88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Jay Pi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C4270-F24B-A935-7BBA-93BEB8481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147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9D811-B017-416A-DCCC-DF4871B9E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9771AE8-76B7-6FD3-F87A-53C5CB6F2FDF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0EF856B-E312-F040-6C17-B5AAB9A46976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085F678-9769-ADD8-843F-AC380EAC31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F3CDF1-BB71-9B94-4084-8CA4772B0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15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82D688B3-5506-0DFF-51D4-BA2E1DF26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27388-B9B0-1719-3E9E-27323AD86282}"/>
              </a:ext>
            </a:extLst>
          </p:cNvPr>
          <p:cNvSpPr txBox="1"/>
          <p:nvPr/>
        </p:nvSpPr>
        <p:spPr>
          <a:xfrm>
            <a:off x="-313333" y="283012"/>
            <a:ext cx="4038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Results: bedrooms number confusion matrix</a:t>
            </a:r>
            <a:endParaRPr lang="en-US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EE541E-77EA-253E-0DFD-A74A2B89AB3F}"/>
              </a:ext>
            </a:extLst>
          </p:cNvPr>
          <p:cNvSpPr txBox="1"/>
          <p:nvPr/>
        </p:nvSpPr>
        <p:spPr>
          <a:xfrm>
            <a:off x="67666" y="1844669"/>
            <a:ext cx="3657601" cy="1579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Total samples: 1000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|pred – true| &lt;= 1 are highlighted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F6D7C4-B275-61DC-C2B8-28497CAC5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764" y="-9746"/>
            <a:ext cx="8003894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2F6E0A3-AFB5-E0C1-0E0A-C9DAA8865E66}"/>
              </a:ext>
            </a:extLst>
          </p:cNvPr>
          <p:cNvSpPr txBox="1"/>
          <p:nvPr/>
        </p:nvSpPr>
        <p:spPr>
          <a:xfrm rot="16200000">
            <a:off x="3335951" y="2239602"/>
            <a:ext cx="1497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Quantarium value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8ED625-9D87-B8D0-7839-FDF2E1E04BC0}"/>
              </a:ext>
            </a:extLst>
          </p:cNvPr>
          <p:cNvSpPr txBox="1"/>
          <p:nvPr/>
        </p:nvSpPr>
        <p:spPr>
          <a:xfrm>
            <a:off x="5747521" y="94485"/>
            <a:ext cx="33334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Predicted value</a:t>
            </a:r>
          </a:p>
        </p:txBody>
      </p:sp>
    </p:spTree>
    <p:extLst>
      <p:ext uri="{BB962C8B-B14F-4D97-AF65-F5344CB8AC3E}">
        <p14:creationId xmlns:p14="http://schemas.microsoft.com/office/powerpoint/2010/main" val="39855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5F2A9-7EA2-A26A-FFF5-8BBEC6399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2C96D11-9C72-1B98-BEAA-29757842EDB8}"/>
              </a:ext>
            </a:extLst>
          </p:cNvPr>
          <p:cNvGrpSpPr/>
          <p:nvPr/>
        </p:nvGrpSpPr>
        <p:grpSpPr>
          <a:xfrm>
            <a:off x="0" y="6275753"/>
            <a:ext cx="12192000" cy="582247"/>
            <a:chOff x="0" y="6275753"/>
            <a:chExt cx="12192000" cy="5822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D60E118-70C9-A47A-73E7-71827A2195CD}"/>
                </a:ext>
              </a:extLst>
            </p:cNvPr>
            <p:cNvSpPr/>
            <p:nvPr/>
          </p:nvSpPr>
          <p:spPr>
            <a:xfrm>
              <a:off x="0" y="6275753"/>
              <a:ext cx="12192000" cy="582247"/>
            </a:xfrm>
            <a:prstGeom prst="rect">
              <a:avLst/>
            </a:prstGeom>
            <a:solidFill>
              <a:srgbClr val="008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5F3F0B8-855D-E38F-3DF1-33E9A40EA0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5" t="10154" r="14801" b="11629"/>
            <a:stretch/>
          </p:blipFill>
          <p:spPr>
            <a:xfrm>
              <a:off x="41658" y="6306775"/>
              <a:ext cx="2334491" cy="541479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95F983-C4FD-5227-B81C-A897880A9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2B876-4B66-412C-A9DE-01BF581FDBBC}" type="slidenum">
              <a:rPr lang="en-US" sz="2000" smtClean="0">
                <a:solidFill>
                  <a:schemeClr val="bg1"/>
                </a:solidFill>
              </a:rPr>
              <a:t>16</a:t>
            </a:fld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8B127884-FD90-527C-A7D4-A2A0853D1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Wei Zhang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83742F-3C56-AE9D-A14E-CF7A7EDF7085}"/>
              </a:ext>
            </a:extLst>
          </p:cNvPr>
          <p:cNvSpPr txBox="1"/>
          <p:nvPr/>
        </p:nvSpPr>
        <p:spPr>
          <a:xfrm>
            <a:off x="0" y="9746"/>
            <a:ext cx="42169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</a:rPr>
              <a:t>Results: bathrooms number confusion matrix</a:t>
            </a:r>
            <a:endParaRPr lang="en-US" sz="3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D42D26-E934-2875-61C9-64984CF8A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9746"/>
            <a:ext cx="8029937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2D58CB0-9099-2170-6431-32D86F38F057}"/>
              </a:ext>
            </a:extLst>
          </p:cNvPr>
          <p:cNvSpPr txBox="1"/>
          <p:nvPr/>
        </p:nvSpPr>
        <p:spPr>
          <a:xfrm>
            <a:off x="41658" y="2434863"/>
            <a:ext cx="6185646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Total samples: 1000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Accuracy: 31.8%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81.4% prediction has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erros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&lt;= 1.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66343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12801</TotalTime>
  <Words>822</Words>
  <Application>Microsoft Office PowerPoint</Application>
  <PresentationFormat>Widescreen</PresentationFormat>
  <Paragraphs>150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Whitney Medium</vt:lpstr>
      <vt:lpstr>Office Theme</vt:lpstr>
      <vt:lpstr>Summer Intern: Driving Distance for Prospect Table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Plymouth Rock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Pi, Jay</dc:creator>
  <cp:lastModifiedBy>Zhang, Wei</cp:lastModifiedBy>
  <cp:revision>1480</cp:revision>
  <dcterms:created xsi:type="dcterms:W3CDTF">2021-05-04T14:04:01Z</dcterms:created>
  <dcterms:modified xsi:type="dcterms:W3CDTF">2025-08-12T18:21:59Z</dcterms:modified>
</cp:coreProperties>
</file>